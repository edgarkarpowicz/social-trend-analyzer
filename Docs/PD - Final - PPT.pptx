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3" r:id="rId8"/>
    <p:sldId id="262"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Estilo me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821"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ata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9C74258B-257B-4EB1-B70C-AE036DE7DE4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FA4E6CAC-F5BF-47C5-B916-6EF88A44B92E}">
      <dgm:prSet/>
      <dgm:spPr/>
      <dgm:t>
        <a:bodyPr/>
        <a:lstStyle/>
        <a:p>
          <a:pPr>
            <a:lnSpc>
              <a:spcPct val="100000"/>
            </a:lnSpc>
          </a:pPr>
          <a:r>
            <a:rPr lang="es-AR" b="1" dirty="0"/>
            <a:t>Aplicación de escritorio </a:t>
          </a:r>
          <a:r>
            <a:rPr lang="es-AR" dirty="0"/>
            <a:t>para el </a:t>
          </a:r>
          <a:r>
            <a:rPr lang="es-AR" b="1" dirty="0"/>
            <a:t>análisis</a:t>
          </a:r>
          <a:r>
            <a:rPr lang="es-AR" dirty="0"/>
            <a:t> inteligente de </a:t>
          </a:r>
          <a:r>
            <a:rPr lang="es-AR" b="1" dirty="0"/>
            <a:t>tendencias</a:t>
          </a:r>
          <a:r>
            <a:rPr lang="es-AR" dirty="0"/>
            <a:t> en </a:t>
          </a:r>
          <a:r>
            <a:rPr lang="es-AR" b="1" dirty="0"/>
            <a:t>redes sociales</a:t>
          </a:r>
          <a:r>
            <a:rPr lang="es-AR" dirty="0"/>
            <a:t>. </a:t>
          </a:r>
          <a:endParaRPr lang="en-US" dirty="0"/>
        </a:p>
      </dgm:t>
    </dgm:pt>
    <dgm:pt modelId="{0DB34BEA-204A-4BDB-9B6A-4719A5F35E85}" type="parTrans" cxnId="{E6F4D1C3-EC5F-4DD6-A7FE-485C0268617A}">
      <dgm:prSet/>
      <dgm:spPr/>
      <dgm:t>
        <a:bodyPr/>
        <a:lstStyle/>
        <a:p>
          <a:endParaRPr lang="en-US"/>
        </a:p>
      </dgm:t>
    </dgm:pt>
    <dgm:pt modelId="{E7D1B233-AF44-4747-AF59-FDC524B9071F}" type="sibTrans" cxnId="{E6F4D1C3-EC5F-4DD6-A7FE-485C0268617A}">
      <dgm:prSet/>
      <dgm:spPr/>
      <dgm:t>
        <a:bodyPr/>
        <a:lstStyle/>
        <a:p>
          <a:endParaRPr lang="en-US"/>
        </a:p>
      </dgm:t>
    </dgm:pt>
    <dgm:pt modelId="{9B193D50-AE42-4002-B290-4185C8B5AB64}">
      <dgm:prSet/>
      <dgm:spPr/>
      <dgm:t>
        <a:bodyPr/>
        <a:lstStyle/>
        <a:p>
          <a:pPr>
            <a:lnSpc>
              <a:spcPct val="100000"/>
            </a:lnSpc>
          </a:pPr>
          <a:r>
            <a:rPr lang="es-AR" b="1" dirty="0"/>
            <a:t>Procesa</a:t>
          </a:r>
          <a:r>
            <a:rPr lang="es-AR" dirty="0"/>
            <a:t> </a:t>
          </a:r>
          <a:r>
            <a:rPr lang="es-AR" b="1" dirty="0"/>
            <a:t>datasets</a:t>
          </a:r>
          <a:r>
            <a:rPr lang="es-AR" dirty="0"/>
            <a:t> de publicaciones utilizando </a:t>
          </a:r>
          <a:r>
            <a:rPr lang="es-AR" b="1" dirty="0"/>
            <a:t>técnicas de análisis de datos y machine learning </a:t>
          </a:r>
          <a:r>
            <a:rPr lang="es-AR" dirty="0"/>
            <a:t>para </a:t>
          </a:r>
          <a:r>
            <a:rPr lang="es-AR" b="1" dirty="0"/>
            <a:t>predecir</a:t>
          </a:r>
          <a:r>
            <a:rPr lang="es-AR" dirty="0"/>
            <a:t> la </a:t>
          </a:r>
          <a:r>
            <a:rPr lang="es-AR" b="1" dirty="0"/>
            <a:t>relevancia</a:t>
          </a:r>
          <a:r>
            <a:rPr lang="es-AR" dirty="0"/>
            <a:t> de contenidos.</a:t>
          </a:r>
          <a:endParaRPr lang="en-US" dirty="0"/>
        </a:p>
      </dgm:t>
    </dgm:pt>
    <dgm:pt modelId="{0C683B3A-F3B6-4763-B13C-5BD77B92DBD5}" type="parTrans" cxnId="{17A03EC9-4B6A-4616-A40F-2EDCB3CB0462}">
      <dgm:prSet/>
      <dgm:spPr/>
      <dgm:t>
        <a:bodyPr/>
        <a:lstStyle/>
        <a:p>
          <a:endParaRPr lang="en-US"/>
        </a:p>
      </dgm:t>
    </dgm:pt>
    <dgm:pt modelId="{A1EBDC91-667B-4DCE-8797-24F15FA15600}" type="sibTrans" cxnId="{17A03EC9-4B6A-4616-A40F-2EDCB3CB0462}">
      <dgm:prSet/>
      <dgm:spPr/>
      <dgm:t>
        <a:bodyPr/>
        <a:lstStyle/>
        <a:p>
          <a:endParaRPr lang="en-US"/>
        </a:p>
      </dgm:t>
    </dgm:pt>
    <dgm:pt modelId="{D68EC524-AEAE-4025-81E7-C999E297F51D}" type="pres">
      <dgm:prSet presAssocID="{9C74258B-257B-4EB1-B70C-AE036DE7DE4B}" presName="root" presStyleCnt="0">
        <dgm:presLayoutVars>
          <dgm:dir/>
          <dgm:resizeHandles val="exact"/>
        </dgm:presLayoutVars>
      </dgm:prSet>
      <dgm:spPr/>
    </dgm:pt>
    <dgm:pt modelId="{2894ADC7-3586-4192-824C-CD247FE14E35}" type="pres">
      <dgm:prSet presAssocID="{FA4E6CAC-F5BF-47C5-B916-6EF88A44B92E}" presName="compNode" presStyleCnt="0"/>
      <dgm:spPr/>
    </dgm:pt>
    <dgm:pt modelId="{D4F663A9-79CF-4BE3-9387-06D59C1D1B85}" type="pres">
      <dgm:prSet presAssocID="{FA4E6CAC-F5BF-47C5-B916-6EF88A44B92E}" presName="bgRect" presStyleLbl="bgShp" presStyleIdx="0" presStyleCnt="2"/>
      <dgm:spPr/>
    </dgm:pt>
    <dgm:pt modelId="{B9975680-9E99-4087-8B52-F8A169868B69}" type="pres">
      <dgm:prSet presAssocID="{FA4E6CAC-F5BF-47C5-B916-6EF88A44B9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cesador"/>
        </a:ext>
      </dgm:extLst>
    </dgm:pt>
    <dgm:pt modelId="{D0A8076D-0BDE-4782-89ED-811F181C9E59}" type="pres">
      <dgm:prSet presAssocID="{FA4E6CAC-F5BF-47C5-B916-6EF88A44B92E}" presName="spaceRect" presStyleCnt="0"/>
      <dgm:spPr/>
    </dgm:pt>
    <dgm:pt modelId="{7ED924E1-296C-4BDA-8F9E-358E934036DA}" type="pres">
      <dgm:prSet presAssocID="{FA4E6CAC-F5BF-47C5-B916-6EF88A44B92E}" presName="parTx" presStyleLbl="revTx" presStyleIdx="0" presStyleCnt="2">
        <dgm:presLayoutVars>
          <dgm:chMax val="0"/>
          <dgm:chPref val="0"/>
        </dgm:presLayoutVars>
      </dgm:prSet>
      <dgm:spPr/>
    </dgm:pt>
    <dgm:pt modelId="{610D5178-E9CF-4F18-A9E6-6E9099B8937A}" type="pres">
      <dgm:prSet presAssocID="{E7D1B233-AF44-4747-AF59-FDC524B9071F}" presName="sibTrans" presStyleCnt="0"/>
      <dgm:spPr/>
    </dgm:pt>
    <dgm:pt modelId="{23A31DA1-E040-4F7E-A04C-7890126D6673}" type="pres">
      <dgm:prSet presAssocID="{9B193D50-AE42-4002-B290-4185C8B5AB64}" presName="compNode" presStyleCnt="0"/>
      <dgm:spPr/>
    </dgm:pt>
    <dgm:pt modelId="{7F5B8292-22A8-4217-B0A3-F2DC7B39BBFB}" type="pres">
      <dgm:prSet presAssocID="{9B193D50-AE42-4002-B290-4185C8B5AB64}" presName="bgRect" presStyleLbl="bgShp" presStyleIdx="1" presStyleCnt="2"/>
      <dgm:spPr/>
    </dgm:pt>
    <dgm:pt modelId="{02EA41CC-CAA0-45BF-BC33-EE1D8FA43625}" type="pres">
      <dgm:prSet presAssocID="{9B193D50-AE42-4002-B290-4185C8B5AB6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Estadísticas"/>
        </a:ext>
      </dgm:extLst>
    </dgm:pt>
    <dgm:pt modelId="{B42393C3-A2E6-41E0-84D5-CC2601107B1C}" type="pres">
      <dgm:prSet presAssocID="{9B193D50-AE42-4002-B290-4185C8B5AB64}" presName="spaceRect" presStyleCnt="0"/>
      <dgm:spPr/>
    </dgm:pt>
    <dgm:pt modelId="{317EAB21-26F8-4BAC-AD0F-967801902842}" type="pres">
      <dgm:prSet presAssocID="{9B193D50-AE42-4002-B290-4185C8B5AB64}" presName="parTx" presStyleLbl="revTx" presStyleIdx="1" presStyleCnt="2">
        <dgm:presLayoutVars>
          <dgm:chMax val="0"/>
          <dgm:chPref val="0"/>
        </dgm:presLayoutVars>
      </dgm:prSet>
      <dgm:spPr/>
    </dgm:pt>
  </dgm:ptLst>
  <dgm:cxnLst>
    <dgm:cxn modelId="{D9CEA208-E398-4FD1-BC46-F9E19F692F87}" type="presOf" srcId="{9C74258B-257B-4EB1-B70C-AE036DE7DE4B}" destId="{D68EC524-AEAE-4025-81E7-C999E297F51D}" srcOrd="0" destOrd="0" presId="urn:microsoft.com/office/officeart/2018/2/layout/IconVerticalSolidList"/>
    <dgm:cxn modelId="{4ABA930E-D74A-43AF-9F95-C33DB3CD243E}" type="presOf" srcId="{9B193D50-AE42-4002-B290-4185C8B5AB64}" destId="{317EAB21-26F8-4BAC-AD0F-967801902842}" srcOrd="0" destOrd="0" presId="urn:microsoft.com/office/officeart/2018/2/layout/IconVerticalSolidList"/>
    <dgm:cxn modelId="{D370EBB1-3AF0-4CA9-9B6F-7594A334E012}" type="presOf" srcId="{FA4E6CAC-F5BF-47C5-B916-6EF88A44B92E}" destId="{7ED924E1-296C-4BDA-8F9E-358E934036DA}" srcOrd="0" destOrd="0" presId="urn:microsoft.com/office/officeart/2018/2/layout/IconVerticalSolidList"/>
    <dgm:cxn modelId="{E6F4D1C3-EC5F-4DD6-A7FE-485C0268617A}" srcId="{9C74258B-257B-4EB1-B70C-AE036DE7DE4B}" destId="{FA4E6CAC-F5BF-47C5-B916-6EF88A44B92E}" srcOrd="0" destOrd="0" parTransId="{0DB34BEA-204A-4BDB-9B6A-4719A5F35E85}" sibTransId="{E7D1B233-AF44-4747-AF59-FDC524B9071F}"/>
    <dgm:cxn modelId="{17A03EC9-4B6A-4616-A40F-2EDCB3CB0462}" srcId="{9C74258B-257B-4EB1-B70C-AE036DE7DE4B}" destId="{9B193D50-AE42-4002-B290-4185C8B5AB64}" srcOrd="1" destOrd="0" parTransId="{0C683B3A-F3B6-4763-B13C-5BD77B92DBD5}" sibTransId="{A1EBDC91-667B-4DCE-8797-24F15FA15600}"/>
    <dgm:cxn modelId="{6EF22224-846A-4E1F-B458-D27518026CF8}" type="presParOf" srcId="{D68EC524-AEAE-4025-81E7-C999E297F51D}" destId="{2894ADC7-3586-4192-824C-CD247FE14E35}" srcOrd="0" destOrd="0" presId="urn:microsoft.com/office/officeart/2018/2/layout/IconVerticalSolidList"/>
    <dgm:cxn modelId="{55710259-9C4C-4B6B-B5DC-EF140A881AFA}" type="presParOf" srcId="{2894ADC7-3586-4192-824C-CD247FE14E35}" destId="{D4F663A9-79CF-4BE3-9387-06D59C1D1B85}" srcOrd="0" destOrd="0" presId="urn:microsoft.com/office/officeart/2018/2/layout/IconVerticalSolidList"/>
    <dgm:cxn modelId="{D2ECFD73-E94F-4768-94DE-45E900BEEC7B}" type="presParOf" srcId="{2894ADC7-3586-4192-824C-CD247FE14E35}" destId="{B9975680-9E99-4087-8B52-F8A169868B69}" srcOrd="1" destOrd="0" presId="urn:microsoft.com/office/officeart/2018/2/layout/IconVerticalSolidList"/>
    <dgm:cxn modelId="{8528C5A2-0D49-4500-8393-4C34A8DACCB7}" type="presParOf" srcId="{2894ADC7-3586-4192-824C-CD247FE14E35}" destId="{D0A8076D-0BDE-4782-89ED-811F181C9E59}" srcOrd="2" destOrd="0" presId="urn:microsoft.com/office/officeart/2018/2/layout/IconVerticalSolidList"/>
    <dgm:cxn modelId="{B7C32E6F-D34B-482F-8F96-ABB66584A782}" type="presParOf" srcId="{2894ADC7-3586-4192-824C-CD247FE14E35}" destId="{7ED924E1-296C-4BDA-8F9E-358E934036DA}" srcOrd="3" destOrd="0" presId="urn:microsoft.com/office/officeart/2018/2/layout/IconVerticalSolidList"/>
    <dgm:cxn modelId="{2F85B6E7-1B0A-4045-A78F-4234ACB422E4}" type="presParOf" srcId="{D68EC524-AEAE-4025-81E7-C999E297F51D}" destId="{610D5178-E9CF-4F18-A9E6-6E9099B8937A}" srcOrd="1" destOrd="0" presId="urn:microsoft.com/office/officeart/2018/2/layout/IconVerticalSolidList"/>
    <dgm:cxn modelId="{C6C98A95-153B-4FC8-9410-E8CA54E75762}" type="presParOf" srcId="{D68EC524-AEAE-4025-81E7-C999E297F51D}" destId="{23A31DA1-E040-4F7E-A04C-7890126D6673}" srcOrd="2" destOrd="0" presId="urn:microsoft.com/office/officeart/2018/2/layout/IconVerticalSolidList"/>
    <dgm:cxn modelId="{47630141-B7AB-4779-B1A2-A18015176779}" type="presParOf" srcId="{23A31DA1-E040-4F7E-A04C-7890126D6673}" destId="{7F5B8292-22A8-4217-B0A3-F2DC7B39BBFB}" srcOrd="0" destOrd="0" presId="urn:microsoft.com/office/officeart/2018/2/layout/IconVerticalSolidList"/>
    <dgm:cxn modelId="{1456D4DA-FCB4-42A4-A370-66583F8A2C55}" type="presParOf" srcId="{23A31DA1-E040-4F7E-A04C-7890126D6673}" destId="{02EA41CC-CAA0-45BF-BC33-EE1D8FA43625}" srcOrd="1" destOrd="0" presId="urn:microsoft.com/office/officeart/2018/2/layout/IconVerticalSolidList"/>
    <dgm:cxn modelId="{09DE5B55-CD07-4BCC-BCD4-60563CB98684}" type="presParOf" srcId="{23A31DA1-E040-4F7E-A04C-7890126D6673}" destId="{B42393C3-A2E6-41E0-84D5-CC2601107B1C}" srcOrd="2" destOrd="0" presId="urn:microsoft.com/office/officeart/2018/2/layout/IconVerticalSolidList"/>
    <dgm:cxn modelId="{0DE8B283-57CA-458D-921B-E44C8A469B82}" type="presParOf" srcId="{23A31DA1-E040-4F7E-A04C-7890126D6673}" destId="{317EAB21-26F8-4BAC-AD0F-96780190284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3EBFEBB-EC20-471F-9234-EE9F32BC84A2}"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9CF2DBB8-9142-4FF8-B4BC-0FFA5E3153E2}">
      <dgm:prSet/>
      <dgm:spPr/>
      <dgm:t>
        <a:bodyPr/>
        <a:lstStyle/>
        <a:p>
          <a:r>
            <a:rPr lang="es-AR" b="1" dirty="0"/>
            <a:t>DeepLearning: </a:t>
          </a:r>
          <a:r>
            <a:rPr lang="es-AR" dirty="0"/>
            <a:t>reemplazar TF-IDF con embeddings (Word2Vec)</a:t>
          </a:r>
          <a:endParaRPr lang="en-US" dirty="0"/>
        </a:p>
      </dgm:t>
    </dgm:pt>
    <dgm:pt modelId="{8F0C9B98-D391-4766-BBF1-56DC5B5AD245}" type="parTrans" cxnId="{9C2F30AE-89C4-4A65-98EF-6DAD0882BB00}">
      <dgm:prSet/>
      <dgm:spPr/>
      <dgm:t>
        <a:bodyPr/>
        <a:lstStyle/>
        <a:p>
          <a:endParaRPr lang="en-US"/>
        </a:p>
      </dgm:t>
    </dgm:pt>
    <dgm:pt modelId="{69897FE9-9FCD-4946-9E44-80B29587945C}" type="sibTrans" cxnId="{9C2F30AE-89C4-4A65-98EF-6DAD0882BB00}">
      <dgm:prSet/>
      <dgm:spPr/>
      <dgm:t>
        <a:bodyPr/>
        <a:lstStyle/>
        <a:p>
          <a:endParaRPr lang="en-US"/>
        </a:p>
      </dgm:t>
    </dgm:pt>
    <dgm:pt modelId="{14B63F20-044E-41D9-95DF-903CE48D668D}">
      <dgm:prSet/>
      <dgm:spPr/>
      <dgm:t>
        <a:bodyPr/>
        <a:lstStyle/>
        <a:p>
          <a:r>
            <a:rPr lang="es-AR" b="1" dirty="0"/>
            <a:t>Predicciones:</a:t>
          </a:r>
          <a:r>
            <a:rPr lang="es-AR" dirty="0"/>
            <a:t> predecir trends futuras (ARIMA, Prophet)</a:t>
          </a:r>
          <a:endParaRPr lang="en-US" dirty="0"/>
        </a:p>
      </dgm:t>
    </dgm:pt>
    <dgm:pt modelId="{23DBE4A8-6921-4938-A373-6056D90F2DCE}" type="parTrans" cxnId="{378CB4F2-E199-4D68-BCB5-8D3479D26193}">
      <dgm:prSet/>
      <dgm:spPr/>
      <dgm:t>
        <a:bodyPr/>
        <a:lstStyle/>
        <a:p>
          <a:endParaRPr lang="en-US"/>
        </a:p>
      </dgm:t>
    </dgm:pt>
    <dgm:pt modelId="{E75C7570-3749-475B-9777-2E8DCB3C2C11}" type="sibTrans" cxnId="{378CB4F2-E199-4D68-BCB5-8D3479D26193}">
      <dgm:prSet/>
      <dgm:spPr/>
      <dgm:t>
        <a:bodyPr/>
        <a:lstStyle/>
        <a:p>
          <a:endParaRPr lang="en-US"/>
        </a:p>
      </dgm:t>
    </dgm:pt>
    <dgm:pt modelId="{0851EBBE-122A-4A9F-B06C-2860B22A736E}">
      <dgm:prSet/>
      <dgm:spPr/>
      <dgm:t>
        <a:bodyPr/>
        <a:lstStyle/>
        <a:p>
          <a:r>
            <a:rPr lang="es-AR" b="1" dirty="0"/>
            <a:t>Colaboración: </a:t>
          </a:r>
          <a:r>
            <a:rPr lang="es-AR" dirty="0"/>
            <a:t>soporte multiusuario con Database. Compartir modelos e insights.</a:t>
          </a:r>
          <a:endParaRPr lang="en-US" dirty="0"/>
        </a:p>
      </dgm:t>
    </dgm:pt>
    <dgm:pt modelId="{36EEAD9D-8576-4670-8C4E-3E088709CA92}" type="parTrans" cxnId="{416BD284-F816-4BD5-9F8C-9D0BA6F031F6}">
      <dgm:prSet/>
      <dgm:spPr/>
      <dgm:t>
        <a:bodyPr/>
        <a:lstStyle/>
        <a:p>
          <a:endParaRPr lang="en-US"/>
        </a:p>
      </dgm:t>
    </dgm:pt>
    <dgm:pt modelId="{81762750-0B98-4AD1-B303-D89882F0794C}" type="sibTrans" cxnId="{416BD284-F816-4BD5-9F8C-9D0BA6F031F6}">
      <dgm:prSet/>
      <dgm:spPr/>
      <dgm:t>
        <a:bodyPr/>
        <a:lstStyle/>
        <a:p>
          <a:endParaRPr lang="en-US"/>
        </a:p>
      </dgm:t>
    </dgm:pt>
    <dgm:pt modelId="{CEB6FBBE-166B-43C9-9BC2-B6F900BE42F2}">
      <dgm:prSet/>
      <dgm:spPr/>
      <dgm:t>
        <a:bodyPr/>
        <a:lstStyle/>
        <a:p>
          <a:r>
            <a:rPr lang="es-AR" b="1" dirty="0"/>
            <a:t>Datos en Tiempo Real:</a:t>
          </a:r>
          <a:r>
            <a:rPr lang="es-AR" dirty="0"/>
            <a:t> conectarse a una API de Twitter / X para obtener datos en vivo.</a:t>
          </a:r>
          <a:endParaRPr lang="en-US" dirty="0"/>
        </a:p>
      </dgm:t>
    </dgm:pt>
    <dgm:pt modelId="{5AA2B813-10BA-4C02-8970-852FEEF7E070}" type="parTrans" cxnId="{B4A1E69D-AB88-43A2-836A-D6D974A9B19B}">
      <dgm:prSet/>
      <dgm:spPr/>
      <dgm:t>
        <a:bodyPr/>
        <a:lstStyle/>
        <a:p>
          <a:endParaRPr lang="en-US"/>
        </a:p>
      </dgm:t>
    </dgm:pt>
    <dgm:pt modelId="{4577A4FD-D697-425C-9DFE-A113CF1DDFB0}" type="sibTrans" cxnId="{B4A1E69D-AB88-43A2-836A-D6D974A9B19B}">
      <dgm:prSet/>
      <dgm:spPr/>
      <dgm:t>
        <a:bodyPr/>
        <a:lstStyle/>
        <a:p>
          <a:endParaRPr lang="en-US"/>
        </a:p>
      </dgm:t>
    </dgm:pt>
    <dgm:pt modelId="{C725BEFF-0D39-4A51-A757-37A2594FE678}">
      <dgm:prSet/>
      <dgm:spPr/>
      <dgm:t>
        <a:bodyPr/>
        <a:lstStyle/>
        <a:p>
          <a:r>
            <a:rPr lang="es-AR" b="1" dirty="0"/>
            <a:t>Mejoras UI y Modo WEB:</a:t>
          </a:r>
          <a:r>
            <a:rPr lang="es-AR" dirty="0"/>
            <a:t> soportar múltiples lenguajes, cambiar entre modo dark y light, generar interfaz WEB.</a:t>
          </a:r>
          <a:endParaRPr lang="en-US" dirty="0"/>
        </a:p>
      </dgm:t>
    </dgm:pt>
    <dgm:pt modelId="{22A9B2CF-3735-44AB-8DB7-282E076138F0}" type="parTrans" cxnId="{BB78B42F-C8D7-44AE-8655-E77B313AC16E}">
      <dgm:prSet/>
      <dgm:spPr/>
      <dgm:t>
        <a:bodyPr/>
        <a:lstStyle/>
        <a:p>
          <a:endParaRPr lang="en-US"/>
        </a:p>
      </dgm:t>
    </dgm:pt>
    <dgm:pt modelId="{D474992F-7773-4846-A7A8-08533AB9A597}" type="sibTrans" cxnId="{BB78B42F-C8D7-44AE-8655-E77B313AC16E}">
      <dgm:prSet/>
      <dgm:spPr/>
      <dgm:t>
        <a:bodyPr/>
        <a:lstStyle/>
        <a:p>
          <a:endParaRPr lang="en-US"/>
        </a:p>
      </dgm:t>
    </dgm:pt>
    <dgm:pt modelId="{530AC125-23B6-44AB-AD65-ACE24F421F40}" type="pres">
      <dgm:prSet presAssocID="{13EBFEBB-EC20-471F-9234-EE9F32BC84A2}" presName="vert0" presStyleCnt="0">
        <dgm:presLayoutVars>
          <dgm:dir/>
          <dgm:animOne val="branch"/>
          <dgm:animLvl val="lvl"/>
        </dgm:presLayoutVars>
      </dgm:prSet>
      <dgm:spPr/>
    </dgm:pt>
    <dgm:pt modelId="{7CD9E924-AE34-4659-A30C-F612D7A7CB22}" type="pres">
      <dgm:prSet presAssocID="{9CF2DBB8-9142-4FF8-B4BC-0FFA5E3153E2}" presName="thickLine" presStyleLbl="alignNode1" presStyleIdx="0" presStyleCnt="5"/>
      <dgm:spPr/>
    </dgm:pt>
    <dgm:pt modelId="{DC4E4E76-11D3-4D96-B0AC-70E371BD83C2}" type="pres">
      <dgm:prSet presAssocID="{9CF2DBB8-9142-4FF8-B4BC-0FFA5E3153E2}" presName="horz1" presStyleCnt="0"/>
      <dgm:spPr/>
    </dgm:pt>
    <dgm:pt modelId="{ACFCFE0D-D9D8-4821-9D25-34F918045AC4}" type="pres">
      <dgm:prSet presAssocID="{9CF2DBB8-9142-4FF8-B4BC-0FFA5E3153E2}" presName="tx1" presStyleLbl="revTx" presStyleIdx="0" presStyleCnt="5"/>
      <dgm:spPr/>
    </dgm:pt>
    <dgm:pt modelId="{4D91B3F8-3958-43C1-9D2D-2A822F66643F}" type="pres">
      <dgm:prSet presAssocID="{9CF2DBB8-9142-4FF8-B4BC-0FFA5E3153E2}" presName="vert1" presStyleCnt="0"/>
      <dgm:spPr/>
    </dgm:pt>
    <dgm:pt modelId="{A46F5ECF-27D2-4E5A-AADA-79BCAD20C6BB}" type="pres">
      <dgm:prSet presAssocID="{14B63F20-044E-41D9-95DF-903CE48D668D}" presName="thickLine" presStyleLbl="alignNode1" presStyleIdx="1" presStyleCnt="5"/>
      <dgm:spPr/>
    </dgm:pt>
    <dgm:pt modelId="{069F9F25-B90C-47AB-B85C-3C0E64A542E2}" type="pres">
      <dgm:prSet presAssocID="{14B63F20-044E-41D9-95DF-903CE48D668D}" presName="horz1" presStyleCnt="0"/>
      <dgm:spPr/>
    </dgm:pt>
    <dgm:pt modelId="{AAE3469A-C31E-45D9-861C-BA4BB514AECA}" type="pres">
      <dgm:prSet presAssocID="{14B63F20-044E-41D9-95DF-903CE48D668D}" presName="tx1" presStyleLbl="revTx" presStyleIdx="1" presStyleCnt="5"/>
      <dgm:spPr/>
    </dgm:pt>
    <dgm:pt modelId="{C07C903A-3CB9-4E18-ADCA-0FC277BDF28F}" type="pres">
      <dgm:prSet presAssocID="{14B63F20-044E-41D9-95DF-903CE48D668D}" presName="vert1" presStyleCnt="0"/>
      <dgm:spPr/>
    </dgm:pt>
    <dgm:pt modelId="{73868676-6112-4753-B68E-BFE9DF7CF5BE}" type="pres">
      <dgm:prSet presAssocID="{0851EBBE-122A-4A9F-B06C-2860B22A736E}" presName="thickLine" presStyleLbl="alignNode1" presStyleIdx="2" presStyleCnt="5"/>
      <dgm:spPr/>
    </dgm:pt>
    <dgm:pt modelId="{2C344B7B-87E7-482F-9ECD-68A94B173E80}" type="pres">
      <dgm:prSet presAssocID="{0851EBBE-122A-4A9F-B06C-2860B22A736E}" presName="horz1" presStyleCnt="0"/>
      <dgm:spPr/>
    </dgm:pt>
    <dgm:pt modelId="{CB4EBD77-75A6-4D49-A72B-50D48B8B6007}" type="pres">
      <dgm:prSet presAssocID="{0851EBBE-122A-4A9F-B06C-2860B22A736E}" presName="tx1" presStyleLbl="revTx" presStyleIdx="2" presStyleCnt="5"/>
      <dgm:spPr/>
    </dgm:pt>
    <dgm:pt modelId="{9875B6D9-695A-413A-8A40-5BCE1EFCCD7C}" type="pres">
      <dgm:prSet presAssocID="{0851EBBE-122A-4A9F-B06C-2860B22A736E}" presName="vert1" presStyleCnt="0"/>
      <dgm:spPr/>
    </dgm:pt>
    <dgm:pt modelId="{253172CD-D6D7-45E4-A4F2-53AADEA6C019}" type="pres">
      <dgm:prSet presAssocID="{CEB6FBBE-166B-43C9-9BC2-B6F900BE42F2}" presName="thickLine" presStyleLbl="alignNode1" presStyleIdx="3" presStyleCnt="5"/>
      <dgm:spPr/>
    </dgm:pt>
    <dgm:pt modelId="{CDC6EDFE-4EE0-4D1B-AFA3-297845668BFB}" type="pres">
      <dgm:prSet presAssocID="{CEB6FBBE-166B-43C9-9BC2-B6F900BE42F2}" presName="horz1" presStyleCnt="0"/>
      <dgm:spPr/>
    </dgm:pt>
    <dgm:pt modelId="{F7B2B5A1-E5F5-4E5A-8FBF-6CB2726F749C}" type="pres">
      <dgm:prSet presAssocID="{CEB6FBBE-166B-43C9-9BC2-B6F900BE42F2}" presName="tx1" presStyleLbl="revTx" presStyleIdx="3" presStyleCnt="5"/>
      <dgm:spPr/>
    </dgm:pt>
    <dgm:pt modelId="{61AF59D8-E1CB-4AFD-B6E2-43F170B3E60B}" type="pres">
      <dgm:prSet presAssocID="{CEB6FBBE-166B-43C9-9BC2-B6F900BE42F2}" presName="vert1" presStyleCnt="0"/>
      <dgm:spPr/>
    </dgm:pt>
    <dgm:pt modelId="{1C145162-1603-4436-B796-9202779BD8BA}" type="pres">
      <dgm:prSet presAssocID="{C725BEFF-0D39-4A51-A757-37A2594FE678}" presName="thickLine" presStyleLbl="alignNode1" presStyleIdx="4" presStyleCnt="5"/>
      <dgm:spPr/>
    </dgm:pt>
    <dgm:pt modelId="{3C47A1DC-1846-4CDE-AF26-9C9676DA3FD6}" type="pres">
      <dgm:prSet presAssocID="{C725BEFF-0D39-4A51-A757-37A2594FE678}" presName="horz1" presStyleCnt="0"/>
      <dgm:spPr/>
    </dgm:pt>
    <dgm:pt modelId="{84DA3720-1B47-42FC-886B-5B8E890D1801}" type="pres">
      <dgm:prSet presAssocID="{C725BEFF-0D39-4A51-A757-37A2594FE678}" presName="tx1" presStyleLbl="revTx" presStyleIdx="4" presStyleCnt="5"/>
      <dgm:spPr/>
    </dgm:pt>
    <dgm:pt modelId="{4B6316FB-4949-452B-BEAA-E7E4323D5E06}" type="pres">
      <dgm:prSet presAssocID="{C725BEFF-0D39-4A51-A757-37A2594FE678}" presName="vert1" presStyleCnt="0"/>
      <dgm:spPr/>
    </dgm:pt>
  </dgm:ptLst>
  <dgm:cxnLst>
    <dgm:cxn modelId="{0AED9D09-3A6F-4C41-A004-97F2E262AE7C}" type="presOf" srcId="{C725BEFF-0D39-4A51-A757-37A2594FE678}" destId="{84DA3720-1B47-42FC-886B-5B8E890D1801}" srcOrd="0" destOrd="0" presId="urn:microsoft.com/office/officeart/2008/layout/LinedList"/>
    <dgm:cxn modelId="{2B1E910D-0FAA-4849-8974-BE9B4CF90D8F}" type="presOf" srcId="{0851EBBE-122A-4A9F-B06C-2860B22A736E}" destId="{CB4EBD77-75A6-4D49-A72B-50D48B8B6007}" srcOrd="0" destOrd="0" presId="urn:microsoft.com/office/officeart/2008/layout/LinedList"/>
    <dgm:cxn modelId="{BB78B42F-C8D7-44AE-8655-E77B313AC16E}" srcId="{13EBFEBB-EC20-471F-9234-EE9F32BC84A2}" destId="{C725BEFF-0D39-4A51-A757-37A2594FE678}" srcOrd="4" destOrd="0" parTransId="{22A9B2CF-3735-44AB-8DB7-282E076138F0}" sibTransId="{D474992F-7773-4846-A7A8-08533AB9A597}"/>
    <dgm:cxn modelId="{7E5E7A64-1E78-40FC-A0CD-1606AC5A3E86}" type="presOf" srcId="{9CF2DBB8-9142-4FF8-B4BC-0FFA5E3153E2}" destId="{ACFCFE0D-D9D8-4821-9D25-34F918045AC4}" srcOrd="0" destOrd="0" presId="urn:microsoft.com/office/officeart/2008/layout/LinedList"/>
    <dgm:cxn modelId="{416BD284-F816-4BD5-9F8C-9D0BA6F031F6}" srcId="{13EBFEBB-EC20-471F-9234-EE9F32BC84A2}" destId="{0851EBBE-122A-4A9F-B06C-2860B22A736E}" srcOrd="2" destOrd="0" parTransId="{36EEAD9D-8576-4670-8C4E-3E088709CA92}" sibTransId="{81762750-0B98-4AD1-B303-D89882F0794C}"/>
    <dgm:cxn modelId="{B4A1E69D-AB88-43A2-836A-D6D974A9B19B}" srcId="{13EBFEBB-EC20-471F-9234-EE9F32BC84A2}" destId="{CEB6FBBE-166B-43C9-9BC2-B6F900BE42F2}" srcOrd="3" destOrd="0" parTransId="{5AA2B813-10BA-4C02-8970-852FEEF7E070}" sibTransId="{4577A4FD-D697-425C-9DFE-A113CF1DDFB0}"/>
    <dgm:cxn modelId="{9C2F30AE-89C4-4A65-98EF-6DAD0882BB00}" srcId="{13EBFEBB-EC20-471F-9234-EE9F32BC84A2}" destId="{9CF2DBB8-9142-4FF8-B4BC-0FFA5E3153E2}" srcOrd="0" destOrd="0" parTransId="{8F0C9B98-D391-4766-BBF1-56DC5B5AD245}" sibTransId="{69897FE9-9FCD-4946-9E44-80B29587945C}"/>
    <dgm:cxn modelId="{1DA8E3B1-3CD1-4B99-8EB5-14279C222D9B}" type="presOf" srcId="{13EBFEBB-EC20-471F-9234-EE9F32BC84A2}" destId="{530AC125-23B6-44AB-AD65-ACE24F421F40}" srcOrd="0" destOrd="0" presId="urn:microsoft.com/office/officeart/2008/layout/LinedList"/>
    <dgm:cxn modelId="{68210AEF-FECE-438F-810F-60F804586AE4}" type="presOf" srcId="{14B63F20-044E-41D9-95DF-903CE48D668D}" destId="{AAE3469A-C31E-45D9-861C-BA4BB514AECA}" srcOrd="0" destOrd="0" presId="urn:microsoft.com/office/officeart/2008/layout/LinedList"/>
    <dgm:cxn modelId="{378CB4F2-E199-4D68-BCB5-8D3479D26193}" srcId="{13EBFEBB-EC20-471F-9234-EE9F32BC84A2}" destId="{14B63F20-044E-41D9-95DF-903CE48D668D}" srcOrd="1" destOrd="0" parTransId="{23DBE4A8-6921-4938-A373-6056D90F2DCE}" sibTransId="{E75C7570-3749-475B-9777-2E8DCB3C2C11}"/>
    <dgm:cxn modelId="{3F1A88FF-0122-4D17-BC91-AFFB34328661}" type="presOf" srcId="{CEB6FBBE-166B-43C9-9BC2-B6F900BE42F2}" destId="{F7B2B5A1-E5F5-4E5A-8FBF-6CB2726F749C}" srcOrd="0" destOrd="0" presId="urn:microsoft.com/office/officeart/2008/layout/LinedList"/>
    <dgm:cxn modelId="{58C8A98C-EF2C-412B-9A52-B4D0D0347B59}" type="presParOf" srcId="{530AC125-23B6-44AB-AD65-ACE24F421F40}" destId="{7CD9E924-AE34-4659-A30C-F612D7A7CB22}" srcOrd="0" destOrd="0" presId="urn:microsoft.com/office/officeart/2008/layout/LinedList"/>
    <dgm:cxn modelId="{7F2FF5E0-BD99-4BE1-9DA4-76F97400D7E5}" type="presParOf" srcId="{530AC125-23B6-44AB-AD65-ACE24F421F40}" destId="{DC4E4E76-11D3-4D96-B0AC-70E371BD83C2}" srcOrd="1" destOrd="0" presId="urn:microsoft.com/office/officeart/2008/layout/LinedList"/>
    <dgm:cxn modelId="{DFEC4AAE-0646-4DAE-A513-54A9815B4F66}" type="presParOf" srcId="{DC4E4E76-11D3-4D96-B0AC-70E371BD83C2}" destId="{ACFCFE0D-D9D8-4821-9D25-34F918045AC4}" srcOrd="0" destOrd="0" presId="urn:microsoft.com/office/officeart/2008/layout/LinedList"/>
    <dgm:cxn modelId="{4F9EFB57-D706-48C5-875C-D763D9160953}" type="presParOf" srcId="{DC4E4E76-11D3-4D96-B0AC-70E371BD83C2}" destId="{4D91B3F8-3958-43C1-9D2D-2A822F66643F}" srcOrd="1" destOrd="0" presId="urn:microsoft.com/office/officeart/2008/layout/LinedList"/>
    <dgm:cxn modelId="{2EEEF6ED-51C2-432E-BB73-6D6E21F40FFA}" type="presParOf" srcId="{530AC125-23B6-44AB-AD65-ACE24F421F40}" destId="{A46F5ECF-27D2-4E5A-AADA-79BCAD20C6BB}" srcOrd="2" destOrd="0" presId="urn:microsoft.com/office/officeart/2008/layout/LinedList"/>
    <dgm:cxn modelId="{81D28D3D-27F4-4993-8C5B-F765D242497B}" type="presParOf" srcId="{530AC125-23B6-44AB-AD65-ACE24F421F40}" destId="{069F9F25-B90C-47AB-B85C-3C0E64A542E2}" srcOrd="3" destOrd="0" presId="urn:microsoft.com/office/officeart/2008/layout/LinedList"/>
    <dgm:cxn modelId="{DE65EE47-E24B-4113-91EA-96E36C7657BA}" type="presParOf" srcId="{069F9F25-B90C-47AB-B85C-3C0E64A542E2}" destId="{AAE3469A-C31E-45D9-861C-BA4BB514AECA}" srcOrd="0" destOrd="0" presId="urn:microsoft.com/office/officeart/2008/layout/LinedList"/>
    <dgm:cxn modelId="{B1638307-7A76-4485-B6C7-47D92F853597}" type="presParOf" srcId="{069F9F25-B90C-47AB-B85C-3C0E64A542E2}" destId="{C07C903A-3CB9-4E18-ADCA-0FC277BDF28F}" srcOrd="1" destOrd="0" presId="urn:microsoft.com/office/officeart/2008/layout/LinedList"/>
    <dgm:cxn modelId="{06575B8B-6EC0-4DE7-A338-D2163CA276D9}" type="presParOf" srcId="{530AC125-23B6-44AB-AD65-ACE24F421F40}" destId="{73868676-6112-4753-B68E-BFE9DF7CF5BE}" srcOrd="4" destOrd="0" presId="urn:microsoft.com/office/officeart/2008/layout/LinedList"/>
    <dgm:cxn modelId="{80DA3E90-D617-45DC-BEF6-DF483E272330}" type="presParOf" srcId="{530AC125-23B6-44AB-AD65-ACE24F421F40}" destId="{2C344B7B-87E7-482F-9ECD-68A94B173E80}" srcOrd="5" destOrd="0" presId="urn:microsoft.com/office/officeart/2008/layout/LinedList"/>
    <dgm:cxn modelId="{39B54CD4-B37D-43CB-BCFC-162CC867FA7C}" type="presParOf" srcId="{2C344B7B-87E7-482F-9ECD-68A94B173E80}" destId="{CB4EBD77-75A6-4D49-A72B-50D48B8B6007}" srcOrd="0" destOrd="0" presId="urn:microsoft.com/office/officeart/2008/layout/LinedList"/>
    <dgm:cxn modelId="{1EE7724F-319D-4D43-82DE-67A502947C75}" type="presParOf" srcId="{2C344B7B-87E7-482F-9ECD-68A94B173E80}" destId="{9875B6D9-695A-413A-8A40-5BCE1EFCCD7C}" srcOrd="1" destOrd="0" presId="urn:microsoft.com/office/officeart/2008/layout/LinedList"/>
    <dgm:cxn modelId="{D055A228-D61A-463B-B9DD-BA3BB99807C1}" type="presParOf" srcId="{530AC125-23B6-44AB-AD65-ACE24F421F40}" destId="{253172CD-D6D7-45E4-A4F2-53AADEA6C019}" srcOrd="6" destOrd="0" presId="urn:microsoft.com/office/officeart/2008/layout/LinedList"/>
    <dgm:cxn modelId="{FFB7DFFE-B3A8-41F3-B35F-0094F51971E4}" type="presParOf" srcId="{530AC125-23B6-44AB-AD65-ACE24F421F40}" destId="{CDC6EDFE-4EE0-4D1B-AFA3-297845668BFB}" srcOrd="7" destOrd="0" presId="urn:microsoft.com/office/officeart/2008/layout/LinedList"/>
    <dgm:cxn modelId="{09DFEDFF-DF63-48C9-8B34-7E19A2C05744}" type="presParOf" srcId="{CDC6EDFE-4EE0-4D1B-AFA3-297845668BFB}" destId="{F7B2B5A1-E5F5-4E5A-8FBF-6CB2726F749C}" srcOrd="0" destOrd="0" presId="urn:microsoft.com/office/officeart/2008/layout/LinedList"/>
    <dgm:cxn modelId="{A1393CE6-1F38-45BE-B280-782CD80F47B2}" type="presParOf" srcId="{CDC6EDFE-4EE0-4D1B-AFA3-297845668BFB}" destId="{61AF59D8-E1CB-4AFD-B6E2-43F170B3E60B}" srcOrd="1" destOrd="0" presId="urn:microsoft.com/office/officeart/2008/layout/LinedList"/>
    <dgm:cxn modelId="{328CC145-F0C3-4D92-A113-B3FE8EF392D3}" type="presParOf" srcId="{530AC125-23B6-44AB-AD65-ACE24F421F40}" destId="{1C145162-1603-4436-B796-9202779BD8BA}" srcOrd="8" destOrd="0" presId="urn:microsoft.com/office/officeart/2008/layout/LinedList"/>
    <dgm:cxn modelId="{83281323-9A52-41C2-93EE-BD65F9EEBEA5}" type="presParOf" srcId="{530AC125-23B6-44AB-AD65-ACE24F421F40}" destId="{3C47A1DC-1846-4CDE-AF26-9C9676DA3FD6}" srcOrd="9" destOrd="0" presId="urn:microsoft.com/office/officeart/2008/layout/LinedList"/>
    <dgm:cxn modelId="{4ACD4C3B-7D07-4352-841F-7C52FE4671DE}" type="presParOf" srcId="{3C47A1DC-1846-4CDE-AF26-9C9676DA3FD6}" destId="{84DA3720-1B47-42FC-886B-5B8E890D1801}" srcOrd="0" destOrd="0" presId="urn:microsoft.com/office/officeart/2008/layout/LinedList"/>
    <dgm:cxn modelId="{CAFA6FF1-49C7-459B-B4F3-15D6D01AB411}" type="presParOf" srcId="{3C47A1DC-1846-4CDE-AF26-9C9676DA3FD6}" destId="{4B6316FB-4949-452B-BEAA-E7E4323D5E06}"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1D6E3D1-655E-4027-9161-A4A36830E48F}"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41959949-B76D-491B-B205-6D6DF6EF0D74}">
      <dgm:prSet/>
      <dgm:spPr/>
      <dgm:t>
        <a:bodyPr/>
        <a:lstStyle/>
        <a:p>
          <a:r>
            <a:rPr lang="es-AR" b="1" dirty="0"/>
            <a:t>Word2Vec</a:t>
          </a:r>
          <a:r>
            <a:rPr lang="es-AR" dirty="0"/>
            <a:t>: técnica de procesamiento de lenguaje natural (NLP), que obtiene representaciones vectoriales de palabras. Los Vectores capturan información de palabras sobre el significado de la palabra basándose en palabras de los alrededores.</a:t>
          </a:r>
          <a:endParaRPr lang="en-US" dirty="0"/>
        </a:p>
      </dgm:t>
    </dgm:pt>
    <dgm:pt modelId="{71A1FA6F-7151-45F3-8427-F8C9FDC3609E}" type="parTrans" cxnId="{C6BC1475-2B3F-4361-97A3-2019865B8A11}">
      <dgm:prSet/>
      <dgm:spPr/>
      <dgm:t>
        <a:bodyPr/>
        <a:lstStyle/>
        <a:p>
          <a:endParaRPr lang="en-US"/>
        </a:p>
      </dgm:t>
    </dgm:pt>
    <dgm:pt modelId="{9C5E24AE-B588-4C89-A608-C0F1A6210827}" type="sibTrans" cxnId="{C6BC1475-2B3F-4361-97A3-2019865B8A11}">
      <dgm:prSet/>
      <dgm:spPr/>
      <dgm:t>
        <a:bodyPr/>
        <a:lstStyle/>
        <a:p>
          <a:endParaRPr lang="en-US"/>
        </a:p>
      </dgm:t>
    </dgm:pt>
    <dgm:pt modelId="{FE61CD11-5313-4C88-8E87-FB86AC652EC2}">
      <dgm:prSet/>
      <dgm:spPr/>
      <dgm:t>
        <a:bodyPr/>
        <a:lstStyle/>
        <a:p>
          <a:r>
            <a:rPr lang="es-AR" b="1" dirty="0"/>
            <a:t>ARIMA</a:t>
          </a:r>
          <a:r>
            <a:rPr lang="es-AR" dirty="0"/>
            <a:t>: Media Móvil Integrada Autorregresiva es un modelo estadístico utilizado para el análisis y la predicción de series temporales. Su objetivo es modelar y pronosticar valores futuros basándose únicamente en los datos pasados de la misma serie.</a:t>
          </a:r>
          <a:endParaRPr lang="en-US" dirty="0"/>
        </a:p>
      </dgm:t>
    </dgm:pt>
    <dgm:pt modelId="{B63C45E1-75E0-4EC2-A58B-9772E7563E28}" type="parTrans" cxnId="{720EC012-4F54-4B69-873D-9E4BC558C9C8}">
      <dgm:prSet/>
      <dgm:spPr/>
      <dgm:t>
        <a:bodyPr/>
        <a:lstStyle/>
        <a:p>
          <a:endParaRPr lang="en-US"/>
        </a:p>
      </dgm:t>
    </dgm:pt>
    <dgm:pt modelId="{F3FF6549-F94E-408A-9CF2-73C80DF82F10}" type="sibTrans" cxnId="{720EC012-4F54-4B69-873D-9E4BC558C9C8}">
      <dgm:prSet/>
      <dgm:spPr/>
      <dgm:t>
        <a:bodyPr/>
        <a:lstStyle/>
        <a:p>
          <a:endParaRPr lang="en-US"/>
        </a:p>
      </dgm:t>
    </dgm:pt>
    <dgm:pt modelId="{D0BD32FC-8F0E-4583-85E6-47701116FC20}">
      <dgm:prSet/>
      <dgm:spPr/>
      <dgm:t>
        <a:bodyPr/>
        <a:lstStyle/>
        <a:p>
          <a:r>
            <a:rPr lang="es-AR" b="1" dirty="0"/>
            <a:t>Prophet</a:t>
          </a:r>
          <a:r>
            <a:rPr lang="es-AR" dirty="0"/>
            <a:t>: herramienta de código abierto de Meta (Facebook) diseñada para hacer predicciones en datos de series temporales de forma sencilla. Funciona descomponiendo los datos en una tendencia, estacionalidad (anual, semanal, diaria) y efectos de días festivos. La predicción se realiza mediante un modelo aditivo, y se proporcionan intervalos de confianza para medir la incertidumbre.</a:t>
          </a:r>
          <a:endParaRPr lang="en-US" dirty="0"/>
        </a:p>
      </dgm:t>
    </dgm:pt>
    <dgm:pt modelId="{5146B080-0B2B-42AA-9D7D-F8BDEA82B607}" type="parTrans" cxnId="{0939D1DE-E9B2-4B8D-AABB-FAF673B2E091}">
      <dgm:prSet/>
      <dgm:spPr/>
      <dgm:t>
        <a:bodyPr/>
        <a:lstStyle/>
        <a:p>
          <a:endParaRPr lang="en-US"/>
        </a:p>
      </dgm:t>
    </dgm:pt>
    <dgm:pt modelId="{5BA2036D-D69F-4956-97C8-75FE8B516B0D}" type="sibTrans" cxnId="{0939D1DE-E9B2-4B8D-AABB-FAF673B2E091}">
      <dgm:prSet/>
      <dgm:spPr/>
      <dgm:t>
        <a:bodyPr/>
        <a:lstStyle/>
        <a:p>
          <a:endParaRPr lang="en-US"/>
        </a:p>
      </dgm:t>
    </dgm:pt>
    <dgm:pt modelId="{AFAF63A8-D779-4DC5-9080-8CBEF44A9756}" type="pres">
      <dgm:prSet presAssocID="{D1D6E3D1-655E-4027-9161-A4A36830E48F}" presName="root" presStyleCnt="0">
        <dgm:presLayoutVars>
          <dgm:dir/>
          <dgm:resizeHandles val="exact"/>
        </dgm:presLayoutVars>
      </dgm:prSet>
      <dgm:spPr/>
    </dgm:pt>
    <dgm:pt modelId="{948A6293-C7E4-4AAA-AA1C-8C1E65EA8061}" type="pres">
      <dgm:prSet presAssocID="{41959949-B76D-491B-B205-6D6DF6EF0D74}" presName="compNode" presStyleCnt="0"/>
      <dgm:spPr/>
    </dgm:pt>
    <dgm:pt modelId="{32775CE7-E59B-4E02-8770-CA06DF2161ED}" type="pres">
      <dgm:prSet presAssocID="{41959949-B76D-491B-B205-6D6DF6EF0D74}" presName="bgRect" presStyleLbl="bgShp" presStyleIdx="0" presStyleCnt="3"/>
      <dgm:spPr/>
    </dgm:pt>
    <dgm:pt modelId="{439CFF89-A2B8-4281-8D01-3796CE5F5BB2}" type="pres">
      <dgm:prSet presAssocID="{41959949-B76D-491B-B205-6D6DF6EF0D74}"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Robot"/>
        </a:ext>
      </dgm:extLst>
    </dgm:pt>
    <dgm:pt modelId="{99FBDA5A-0935-4FBE-92EC-DCDC4D1D61A6}" type="pres">
      <dgm:prSet presAssocID="{41959949-B76D-491B-B205-6D6DF6EF0D74}" presName="spaceRect" presStyleCnt="0"/>
      <dgm:spPr/>
    </dgm:pt>
    <dgm:pt modelId="{592E369E-9DEA-4A7C-A7C6-0E0F8CDC2F93}" type="pres">
      <dgm:prSet presAssocID="{41959949-B76D-491B-B205-6D6DF6EF0D74}" presName="parTx" presStyleLbl="revTx" presStyleIdx="0" presStyleCnt="3">
        <dgm:presLayoutVars>
          <dgm:chMax val="0"/>
          <dgm:chPref val="0"/>
        </dgm:presLayoutVars>
      </dgm:prSet>
      <dgm:spPr/>
    </dgm:pt>
    <dgm:pt modelId="{88F17DCE-FF35-4692-9E98-734C8030B59A}" type="pres">
      <dgm:prSet presAssocID="{9C5E24AE-B588-4C89-A608-C0F1A6210827}" presName="sibTrans" presStyleCnt="0"/>
      <dgm:spPr/>
    </dgm:pt>
    <dgm:pt modelId="{E3E7C297-4263-411D-A2CF-9C24AB5AF998}" type="pres">
      <dgm:prSet presAssocID="{FE61CD11-5313-4C88-8E87-FB86AC652EC2}" presName="compNode" presStyleCnt="0"/>
      <dgm:spPr/>
    </dgm:pt>
    <dgm:pt modelId="{DCECC49B-75B5-4539-BF65-A97769B2F36B}" type="pres">
      <dgm:prSet presAssocID="{FE61CD11-5313-4C88-8E87-FB86AC652EC2}" presName="bgRect" presStyleLbl="bgShp" presStyleIdx="1" presStyleCnt="3"/>
      <dgm:spPr/>
    </dgm:pt>
    <dgm:pt modelId="{B3CBCA54-1534-484A-952F-1AF1B266B6A0}" type="pres">
      <dgm:prSet presAssocID="{FE61CD11-5313-4C88-8E87-FB86AC652EC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Estadísticas"/>
        </a:ext>
      </dgm:extLst>
    </dgm:pt>
    <dgm:pt modelId="{56BB94C9-E2F3-4A82-B4C1-318B0DA01DA8}" type="pres">
      <dgm:prSet presAssocID="{FE61CD11-5313-4C88-8E87-FB86AC652EC2}" presName="spaceRect" presStyleCnt="0"/>
      <dgm:spPr/>
    </dgm:pt>
    <dgm:pt modelId="{E3503209-01F5-462A-AD6B-7F8B34570AB6}" type="pres">
      <dgm:prSet presAssocID="{FE61CD11-5313-4C88-8E87-FB86AC652EC2}" presName="parTx" presStyleLbl="revTx" presStyleIdx="1" presStyleCnt="3">
        <dgm:presLayoutVars>
          <dgm:chMax val="0"/>
          <dgm:chPref val="0"/>
        </dgm:presLayoutVars>
      </dgm:prSet>
      <dgm:spPr/>
    </dgm:pt>
    <dgm:pt modelId="{F821CFED-E219-4979-BE13-D08B92A74250}" type="pres">
      <dgm:prSet presAssocID="{F3FF6549-F94E-408A-9CF2-73C80DF82F10}" presName="sibTrans" presStyleCnt="0"/>
      <dgm:spPr/>
    </dgm:pt>
    <dgm:pt modelId="{1A33788E-4FC4-4083-8619-9351C3F94DA7}" type="pres">
      <dgm:prSet presAssocID="{D0BD32FC-8F0E-4583-85E6-47701116FC20}" presName="compNode" presStyleCnt="0"/>
      <dgm:spPr/>
    </dgm:pt>
    <dgm:pt modelId="{88C59613-6503-4AAA-870A-D52ACC6E3DF7}" type="pres">
      <dgm:prSet presAssocID="{D0BD32FC-8F0E-4583-85E6-47701116FC20}" presName="bgRect" presStyleLbl="bgShp" presStyleIdx="2" presStyleCnt="3"/>
      <dgm:spPr/>
    </dgm:pt>
    <dgm:pt modelId="{2343BABD-E0BC-40D9-9A1F-1998C2C8BE37}" type="pres">
      <dgm:prSet presAssocID="{D0BD32FC-8F0E-4583-85E6-47701116FC20}"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Presentation with Checklist"/>
        </a:ext>
      </dgm:extLst>
    </dgm:pt>
    <dgm:pt modelId="{A1E41F21-9EA0-4A40-89B3-EC2DFE77E3D8}" type="pres">
      <dgm:prSet presAssocID="{D0BD32FC-8F0E-4583-85E6-47701116FC20}" presName="spaceRect" presStyleCnt="0"/>
      <dgm:spPr/>
    </dgm:pt>
    <dgm:pt modelId="{3A480D8A-BD8B-4C18-A386-E5A81498F087}" type="pres">
      <dgm:prSet presAssocID="{D0BD32FC-8F0E-4583-85E6-47701116FC20}" presName="parTx" presStyleLbl="revTx" presStyleIdx="2" presStyleCnt="3">
        <dgm:presLayoutVars>
          <dgm:chMax val="0"/>
          <dgm:chPref val="0"/>
        </dgm:presLayoutVars>
      </dgm:prSet>
      <dgm:spPr/>
    </dgm:pt>
  </dgm:ptLst>
  <dgm:cxnLst>
    <dgm:cxn modelId="{720EC012-4F54-4B69-873D-9E4BC558C9C8}" srcId="{D1D6E3D1-655E-4027-9161-A4A36830E48F}" destId="{FE61CD11-5313-4C88-8E87-FB86AC652EC2}" srcOrd="1" destOrd="0" parTransId="{B63C45E1-75E0-4EC2-A58B-9772E7563E28}" sibTransId="{F3FF6549-F94E-408A-9CF2-73C80DF82F10}"/>
    <dgm:cxn modelId="{603FFC38-6AEC-4F9E-871B-501657847B03}" type="presOf" srcId="{FE61CD11-5313-4C88-8E87-FB86AC652EC2}" destId="{E3503209-01F5-462A-AD6B-7F8B34570AB6}" srcOrd="0" destOrd="0" presId="urn:microsoft.com/office/officeart/2018/2/layout/IconVerticalSolidList"/>
    <dgm:cxn modelId="{8336B460-9268-4DDE-9D31-F09FA4ECDE3C}" type="presOf" srcId="{D1D6E3D1-655E-4027-9161-A4A36830E48F}" destId="{AFAF63A8-D779-4DC5-9080-8CBEF44A9756}" srcOrd="0" destOrd="0" presId="urn:microsoft.com/office/officeart/2018/2/layout/IconVerticalSolidList"/>
    <dgm:cxn modelId="{99470143-B3F5-47D6-8840-CCE8E8E85D2E}" type="presOf" srcId="{41959949-B76D-491B-B205-6D6DF6EF0D74}" destId="{592E369E-9DEA-4A7C-A7C6-0E0F8CDC2F93}" srcOrd="0" destOrd="0" presId="urn:microsoft.com/office/officeart/2018/2/layout/IconVerticalSolidList"/>
    <dgm:cxn modelId="{C6BC1475-2B3F-4361-97A3-2019865B8A11}" srcId="{D1D6E3D1-655E-4027-9161-A4A36830E48F}" destId="{41959949-B76D-491B-B205-6D6DF6EF0D74}" srcOrd="0" destOrd="0" parTransId="{71A1FA6F-7151-45F3-8427-F8C9FDC3609E}" sibTransId="{9C5E24AE-B588-4C89-A608-C0F1A6210827}"/>
    <dgm:cxn modelId="{0939D1DE-E9B2-4B8D-AABB-FAF673B2E091}" srcId="{D1D6E3D1-655E-4027-9161-A4A36830E48F}" destId="{D0BD32FC-8F0E-4583-85E6-47701116FC20}" srcOrd="2" destOrd="0" parTransId="{5146B080-0B2B-42AA-9D7D-F8BDEA82B607}" sibTransId="{5BA2036D-D69F-4956-97C8-75FE8B516B0D}"/>
    <dgm:cxn modelId="{689A89F8-E604-468C-93B3-1A98278B1D31}" type="presOf" srcId="{D0BD32FC-8F0E-4583-85E6-47701116FC20}" destId="{3A480D8A-BD8B-4C18-A386-E5A81498F087}" srcOrd="0" destOrd="0" presId="urn:microsoft.com/office/officeart/2018/2/layout/IconVerticalSolidList"/>
    <dgm:cxn modelId="{C54909EC-F727-46E9-8507-FDF716251418}" type="presParOf" srcId="{AFAF63A8-D779-4DC5-9080-8CBEF44A9756}" destId="{948A6293-C7E4-4AAA-AA1C-8C1E65EA8061}" srcOrd="0" destOrd="0" presId="urn:microsoft.com/office/officeart/2018/2/layout/IconVerticalSolidList"/>
    <dgm:cxn modelId="{00873B87-33A3-41B2-BF9B-43438413C221}" type="presParOf" srcId="{948A6293-C7E4-4AAA-AA1C-8C1E65EA8061}" destId="{32775CE7-E59B-4E02-8770-CA06DF2161ED}" srcOrd="0" destOrd="0" presId="urn:microsoft.com/office/officeart/2018/2/layout/IconVerticalSolidList"/>
    <dgm:cxn modelId="{E8F73A26-E5CC-4ED8-A228-572B3045185A}" type="presParOf" srcId="{948A6293-C7E4-4AAA-AA1C-8C1E65EA8061}" destId="{439CFF89-A2B8-4281-8D01-3796CE5F5BB2}" srcOrd="1" destOrd="0" presId="urn:microsoft.com/office/officeart/2018/2/layout/IconVerticalSolidList"/>
    <dgm:cxn modelId="{C2E04142-E1E2-476A-AB2B-2285F94EB7D5}" type="presParOf" srcId="{948A6293-C7E4-4AAA-AA1C-8C1E65EA8061}" destId="{99FBDA5A-0935-4FBE-92EC-DCDC4D1D61A6}" srcOrd="2" destOrd="0" presId="urn:microsoft.com/office/officeart/2018/2/layout/IconVerticalSolidList"/>
    <dgm:cxn modelId="{3FB532BC-0991-4F05-A730-8D1443B54A7D}" type="presParOf" srcId="{948A6293-C7E4-4AAA-AA1C-8C1E65EA8061}" destId="{592E369E-9DEA-4A7C-A7C6-0E0F8CDC2F93}" srcOrd="3" destOrd="0" presId="urn:microsoft.com/office/officeart/2018/2/layout/IconVerticalSolidList"/>
    <dgm:cxn modelId="{27AE4FC4-54D3-4EF0-9971-6C9737963DBA}" type="presParOf" srcId="{AFAF63A8-D779-4DC5-9080-8CBEF44A9756}" destId="{88F17DCE-FF35-4692-9E98-734C8030B59A}" srcOrd="1" destOrd="0" presId="urn:microsoft.com/office/officeart/2018/2/layout/IconVerticalSolidList"/>
    <dgm:cxn modelId="{8FD3A4A4-D9DB-4A78-8DE5-CBA529A9FBEC}" type="presParOf" srcId="{AFAF63A8-D779-4DC5-9080-8CBEF44A9756}" destId="{E3E7C297-4263-411D-A2CF-9C24AB5AF998}" srcOrd="2" destOrd="0" presId="urn:microsoft.com/office/officeart/2018/2/layout/IconVerticalSolidList"/>
    <dgm:cxn modelId="{47E0BCD6-A189-4FA1-BBD6-6D05313F86FA}" type="presParOf" srcId="{E3E7C297-4263-411D-A2CF-9C24AB5AF998}" destId="{DCECC49B-75B5-4539-BF65-A97769B2F36B}" srcOrd="0" destOrd="0" presId="urn:microsoft.com/office/officeart/2018/2/layout/IconVerticalSolidList"/>
    <dgm:cxn modelId="{F8476F95-E2B5-4901-B4DF-18507650A813}" type="presParOf" srcId="{E3E7C297-4263-411D-A2CF-9C24AB5AF998}" destId="{B3CBCA54-1534-484A-952F-1AF1B266B6A0}" srcOrd="1" destOrd="0" presId="urn:microsoft.com/office/officeart/2018/2/layout/IconVerticalSolidList"/>
    <dgm:cxn modelId="{17E9F160-60F2-4307-B899-835A100EB3A3}" type="presParOf" srcId="{E3E7C297-4263-411D-A2CF-9C24AB5AF998}" destId="{56BB94C9-E2F3-4A82-B4C1-318B0DA01DA8}" srcOrd="2" destOrd="0" presId="urn:microsoft.com/office/officeart/2018/2/layout/IconVerticalSolidList"/>
    <dgm:cxn modelId="{AD7A1035-4AE4-445B-B31E-A02065B0C25A}" type="presParOf" srcId="{E3E7C297-4263-411D-A2CF-9C24AB5AF998}" destId="{E3503209-01F5-462A-AD6B-7F8B34570AB6}" srcOrd="3" destOrd="0" presId="urn:microsoft.com/office/officeart/2018/2/layout/IconVerticalSolidList"/>
    <dgm:cxn modelId="{97C9988F-8894-4369-8509-F0463AF762AC}" type="presParOf" srcId="{AFAF63A8-D779-4DC5-9080-8CBEF44A9756}" destId="{F821CFED-E219-4979-BE13-D08B92A74250}" srcOrd="3" destOrd="0" presId="urn:microsoft.com/office/officeart/2018/2/layout/IconVerticalSolidList"/>
    <dgm:cxn modelId="{93C43B4B-51C9-4977-B424-19FB8A39BAFB}" type="presParOf" srcId="{AFAF63A8-D779-4DC5-9080-8CBEF44A9756}" destId="{1A33788E-4FC4-4083-8619-9351C3F94DA7}" srcOrd="4" destOrd="0" presId="urn:microsoft.com/office/officeart/2018/2/layout/IconVerticalSolidList"/>
    <dgm:cxn modelId="{CD3CEE76-59D3-402D-A33A-A61E7E25B34E}" type="presParOf" srcId="{1A33788E-4FC4-4083-8619-9351C3F94DA7}" destId="{88C59613-6503-4AAA-870A-D52ACC6E3DF7}" srcOrd="0" destOrd="0" presId="urn:microsoft.com/office/officeart/2018/2/layout/IconVerticalSolidList"/>
    <dgm:cxn modelId="{1622A062-B491-4A08-B269-E4A20C78E418}" type="presParOf" srcId="{1A33788E-4FC4-4083-8619-9351C3F94DA7}" destId="{2343BABD-E0BC-40D9-9A1F-1998C2C8BE37}" srcOrd="1" destOrd="0" presId="urn:microsoft.com/office/officeart/2018/2/layout/IconVerticalSolidList"/>
    <dgm:cxn modelId="{AEC516E6-C850-46CA-8BDB-78918B6578B8}" type="presParOf" srcId="{1A33788E-4FC4-4083-8619-9351C3F94DA7}" destId="{A1E41F21-9EA0-4A40-89B3-EC2DFE77E3D8}" srcOrd="2" destOrd="0" presId="urn:microsoft.com/office/officeart/2018/2/layout/IconVerticalSolidList"/>
    <dgm:cxn modelId="{8C9135BC-82FE-4BF4-B501-A9439EE50360}" type="presParOf" srcId="{1A33788E-4FC4-4083-8619-9351C3F94DA7}" destId="{3A480D8A-BD8B-4C18-A386-E5A81498F08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F663A9-79CF-4BE3-9387-06D59C1D1B85}">
      <dsp:nvSpPr>
        <dsp:cNvPr id="0" name=""/>
        <dsp:cNvSpPr/>
      </dsp:nvSpPr>
      <dsp:spPr>
        <a:xfrm>
          <a:off x="0" y="558555"/>
          <a:ext cx="4586513" cy="11285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9975680-9E99-4087-8B52-F8A169868B69}">
      <dsp:nvSpPr>
        <dsp:cNvPr id="0" name=""/>
        <dsp:cNvSpPr/>
      </dsp:nvSpPr>
      <dsp:spPr>
        <a:xfrm>
          <a:off x="341374" y="812470"/>
          <a:ext cx="620680" cy="62068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D924E1-296C-4BDA-8F9E-358E934036DA}">
      <dsp:nvSpPr>
        <dsp:cNvPr id="0" name=""/>
        <dsp:cNvSpPr/>
      </dsp:nvSpPr>
      <dsp:spPr>
        <a:xfrm>
          <a:off x="1303429" y="558555"/>
          <a:ext cx="3283083" cy="1128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434" tIns="119434" rIns="119434" bIns="119434" numCol="1" spcCol="1270" anchor="ctr" anchorCtr="0">
          <a:noAutofit/>
        </a:bodyPr>
        <a:lstStyle/>
        <a:p>
          <a:pPr marL="0" lvl="0" indent="0" algn="l" defTabSz="622300">
            <a:lnSpc>
              <a:spcPct val="100000"/>
            </a:lnSpc>
            <a:spcBef>
              <a:spcPct val="0"/>
            </a:spcBef>
            <a:spcAft>
              <a:spcPct val="35000"/>
            </a:spcAft>
            <a:buNone/>
          </a:pPr>
          <a:r>
            <a:rPr lang="es-AR" sz="1400" b="1" kern="1200" dirty="0"/>
            <a:t>Aplicación de escritorio </a:t>
          </a:r>
          <a:r>
            <a:rPr lang="es-AR" sz="1400" kern="1200" dirty="0"/>
            <a:t>para el </a:t>
          </a:r>
          <a:r>
            <a:rPr lang="es-AR" sz="1400" b="1" kern="1200" dirty="0"/>
            <a:t>análisis</a:t>
          </a:r>
          <a:r>
            <a:rPr lang="es-AR" sz="1400" kern="1200" dirty="0"/>
            <a:t> inteligente de </a:t>
          </a:r>
          <a:r>
            <a:rPr lang="es-AR" sz="1400" b="1" kern="1200" dirty="0"/>
            <a:t>tendencias</a:t>
          </a:r>
          <a:r>
            <a:rPr lang="es-AR" sz="1400" kern="1200" dirty="0"/>
            <a:t> en </a:t>
          </a:r>
          <a:r>
            <a:rPr lang="es-AR" sz="1400" b="1" kern="1200" dirty="0"/>
            <a:t>redes sociales</a:t>
          </a:r>
          <a:r>
            <a:rPr lang="es-AR" sz="1400" kern="1200" dirty="0"/>
            <a:t>. </a:t>
          </a:r>
          <a:endParaRPr lang="en-US" sz="1400" kern="1200" dirty="0"/>
        </a:p>
      </dsp:txBody>
      <dsp:txXfrm>
        <a:off x="1303429" y="558555"/>
        <a:ext cx="3283083" cy="1128510"/>
      </dsp:txXfrm>
    </dsp:sp>
    <dsp:sp modelId="{7F5B8292-22A8-4217-B0A3-F2DC7B39BBFB}">
      <dsp:nvSpPr>
        <dsp:cNvPr id="0" name=""/>
        <dsp:cNvSpPr/>
      </dsp:nvSpPr>
      <dsp:spPr>
        <a:xfrm>
          <a:off x="0" y="1960644"/>
          <a:ext cx="4586513" cy="11285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2EA41CC-CAA0-45BF-BC33-EE1D8FA43625}">
      <dsp:nvSpPr>
        <dsp:cNvPr id="0" name=""/>
        <dsp:cNvSpPr/>
      </dsp:nvSpPr>
      <dsp:spPr>
        <a:xfrm>
          <a:off x="341374" y="2214558"/>
          <a:ext cx="620680" cy="62068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7EAB21-26F8-4BAC-AD0F-967801902842}">
      <dsp:nvSpPr>
        <dsp:cNvPr id="0" name=""/>
        <dsp:cNvSpPr/>
      </dsp:nvSpPr>
      <dsp:spPr>
        <a:xfrm>
          <a:off x="1303429" y="1960644"/>
          <a:ext cx="3283083" cy="1128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434" tIns="119434" rIns="119434" bIns="119434" numCol="1" spcCol="1270" anchor="ctr" anchorCtr="0">
          <a:noAutofit/>
        </a:bodyPr>
        <a:lstStyle/>
        <a:p>
          <a:pPr marL="0" lvl="0" indent="0" algn="l" defTabSz="622300">
            <a:lnSpc>
              <a:spcPct val="100000"/>
            </a:lnSpc>
            <a:spcBef>
              <a:spcPct val="0"/>
            </a:spcBef>
            <a:spcAft>
              <a:spcPct val="35000"/>
            </a:spcAft>
            <a:buNone/>
          </a:pPr>
          <a:r>
            <a:rPr lang="es-AR" sz="1400" b="1" kern="1200" dirty="0"/>
            <a:t>Procesa</a:t>
          </a:r>
          <a:r>
            <a:rPr lang="es-AR" sz="1400" kern="1200" dirty="0"/>
            <a:t> </a:t>
          </a:r>
          <a:r>
            <a:rPr lang="es-AR" sz="1400" b="1" kern="1200" dirty="0"/>
            <a:t>datasets</a:t>
          </a:r>
          <a:r>
            <a:rPr lang="es-AR" sz="1400" kern="1200" dirty="0"/>
            <a:t> de publicaciones utilizando </a:t>
          </a:r>
          <a:r>
            <a:rPr lang="es-AR" sz="1400" b="1" kern="1200" dirty="0"/>
            <a:t>técnicas de análisis de datos y machine learning </a:t>
          </a:r>
          <a:r>
            <a:rPr lang="es-AR" sz="1400" kern="1200" dirty="0"/>
            <a:t>para </a:t>
          </a:r>
          <a:r>
            <a:rPr lang="es-AR" sz="1400" b="1" kern="1200" dirty="0"/>
            <a:t>predecir</a:t>
          </a:r>
          <a:r>
            <a:rPr lang="es-AR" sz="1400" kern="1200" dirty="0"/>
            <a:t> la </a:t>
          </a:r>
          <a:r>
            <a:rPr lang="es-AR" sz="1400" b="1" kern="1200" dirty="0"/>
            <a:t>relevancia</a:t>
          </a:r>
          <a:r>
            <a:rPr lang="es-AR" sz="1400" kern="1200" dirty="0"/>
            <a:t> de contenidos.</a:t>
          </a:r>
          <a:endParaRPr lang="en-US" sz="1400" kern="1200" dirty="0"/>
        </a:p>
      </dsp:txBody>
      <dsp:txXfrm>
        <a:off x="1303429" y="1960644"/>
        <a:ext cx="3283083" cy="11285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D9E924-AE34-4659-A30C-F612D7A7CB22}">
      <dsp:nvSpPr>
        <dsp:cNvPr id="0" name=""/>
        <dsp:cNvSpPr/>
      </dsp:nvSpPr>
      <dsp:spPr>
        <a:xfrm>
          <a:off x="0" y="531"/>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CFCFE0D-D9D8-4821-9D25-34F918045AC4}">
      <dsp:nvSpPr>
        <dsp:cNvPr id="0" name=""/>
        <dsp:cNvSpPr/>
      </dsp:nvSpPr>
      <dsp:spPr>
        <a:xfrm>
          <a:off x="0" y="531"/>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s-AR" sz="2400" b="1" kern="1200" dirty="0"/>
            <a:t>DeepLearning: </a:t>
          </a:r>
          <a:r>
            <a:rPr lang="es-AR" sz="2400" kern="1200" dirty="0"/>
            <a:t>reemplazar TF-IDF con embeddings (Word2Vec)</a:t>
          </a:r>
          <a:endParaRPr lang="en-US" sz="2400" kern="1200" dirty="0"/>
        </a:p>
      </dsp:txBody>
      <dsp:txXfrm>
        <a:off x="0" y="531"/>
        <a:ext cx="10515600" cy="870055"/>
      </dsp:txXfrm>
    </dsp:sp>
    <dsp:sp modelId="{A46F5ECF-27D2-4E5A-AADA-79BCAD20C6BB}">
      <dsp:nvSpPr>
        <dsp:cNvPr id="0" name=""/>
        <dsp:cNvSpPr/>
      </dsp:nvSpPr>
      <dsp:spPr>
        <a:xfrm>
          <a:off x="0" y="870586"/>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AE3469A-C31E-45D9-861C-BA4BB514AECA}">
      <dsp:nvSpPr>
        <dsp:cNvPr id="0" name=""/>
        <dsp:cNvSpPr/>
      </dsp:nvSpPr>
      <dsp:spPr>
        <a:xfrm>
          <a:off x="0" y="870586"/>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s-AR" sz="2400" b="1" kern="1200" dirty="0"/>
            <a:t>Predicciones:</a:t>
          </a:r>
          <a:r>
            <a:rPr lang="es-AR" sz="2400" kern="1200" dirty="0"/>
            <a:t> predecir trends futuras (ARIMA, Prophet)</a:t>
          </a:r>
          <a:endParaRPr lang="en-US" sz="2400" kern="1200" dirty="0"/>
        </a:p>
      </dsp:txBody>
      <dsp:txXfrm>
        <a:off x="0" y="870586"/>
        <a:ext cx="10515600" cy="870055"/>
      </dsp:txXfrm>
    </dsp:sp>
    <dsp:sp modelId="{73868676-6112-4753-B68E-BFE9DF7CF5BE}">
      <dsp:nvSpPr>
        <dsp:cNvPr id="0" name=""/>
        <dsp:cNvSpPr/>
      </dsp:nvSpPr>
      <dsp:spPr>
        <a:xfrm>
          <a:off x="0" y="1740641"/>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B4EBD77-75A6-4D49-A72B-50D48B8B6007}">
      <dsp:nvSpPr>
        <dsp:cNvPr id="0" name=""/>
        <dsp:cNvSpPr/>
      </dsp:nvSpPr>
      <dsp:spPr>
        <a:xfrm>
          <a:off x="0" y="1740641"/>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s-AR" sz="2400" b="1" kern="1200" dirty="0"/>
            <a:t>Colaboración: </a:t>
          </a:r>
          <a:r>
            <a:rPr lang="es-AR" sz="2400" kern="1200" dirty="0"/>
            <a:t>soporte multiusuario con Database. Compartir modelos e insights.</a:t>
          </a:r>
          <a:endParaRPr lang="en-US" sz="2400" kern="1200" dirty="0"/>
        </a:p>
      </dsp:txBody>
      <dsp:txXfrm>
        <a:off x="0" y="1740641"/>
        <a:ext cx="10515600" cy="870055"/>
      </dsp:txXfrm>
    </dsp:sp>
    <dsp:sp modelId="{253172CD-D6D7-45E4-A4F2-53AADEA6C019}">
      <dsp:nvSpPr>
        <dsp:cNvPr id="0" name=""/>
        <dsp:cNvSpPr/>
      </dsp:nvSpPr>
      <dsp:spPr>
        <a:xfrm>
          <a:off x="0" y="2610696"/>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7B2B5A1-E5F5-4E5A-8FBF-6CB2726F749C}">
      <dsp:nvSpPr>
        <dsp:cNvPr id="0" name=""/>
        <dsp:cNvSpPr/>
      </dsp:nvSpPr>
      <dsp:spPr>
        <a:xfrm>
          <a:off x="0" y="2610696"/>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s-AR" sz="2400" b="1" kern="1200" dirty="0"/>
            <a:t>Datos en Tiempo Real:</a:t>
          </a:r>
          <a:r>
            <a:rPr lang="es-AR" sz="2400" kern="1200" dirty="0"/>
            <a:t> conectarse a una API de Twitter / X para obtener datos en vivo.</a:t>
          </a:r>
          <a:endParaRPr lang="en-US" sz="2400" kern="1200" dirty="0"/>
        </a:p>
      </dsp:txBody>
      <dsp:txXfrm>
        <a:off x="0" y="2610696"/>
        <a:ext cx="10515600" cy="870055"/>
      </dsp:txXfrm>
    </dsp:sp>
    <dsp:sp modelId="{1C145162-1603-4436-B796-9202779BD8BA}">
      <dsp:nvSpPr>
        <dsp:cNvPr id="0" name=""/>
        <dsp:cNvSpPr/>
      </dsp:nvSpPr>
      <dsp:spPr>
        <a:xfrm>
          <a:off x="0" y="3480751"/>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DA3720-1B47-42FC-886B-5B8E890D1801}">
      <dsp:nvSpPr>
        <dsp:cNvPr id="0" name=""/>
        <dsp:cNvSpPr/>
      </dsp:nvSpPr>
      <dsp:spPr>
        <a:xfrm>
          <a:off x="0" y="3480751"/>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s-AR" sz="2400" b="1" kern="1200" dirty="0"/>
            <a:t>Mejoras UI y Modo WEB:</a:t>
          </a:r>
          <a:r>
            <a:rPr lang="es-AR" sz="2400" kern="1200" dirty="0"/>
            <a:t> soportar múltiples lenguajes, cambiar entre modo dark y light, generar interfaz WEB.</a:t>
          </a:r>
          <a:endParaRPr lang="en-US" sz="2400" kern="1200" dirty="0"/>
        </a:p>
      </dsp:txBody>
      <dsp:txXfrm>
        <a:off x="0" y="3480751"/>
        <a:ext cx="10515600" cy="8700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775CE7-E59B-4E02-8770-CA06DF2161ED}">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9CFF89-A2B8-4281-8D01-3796CE5F5BB2}">
      <dsp:nvSpPr>
        <dsp:cNvPr id="0" name=""/>
        <dsp:cNvSpPr/>
      </dsp:nvSpPr>
      <dsp:spPr>
        <a:xfrm>
          <a:off x="376522" y="280590"/>
          <a:ext cx="684586" cy="68458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92E369E-9DEA-4A7C-A7C6-0E0F8CDC2F93}">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666750">
            <a:lnSpc>
              <a:spcPct val="90000"/>
            </a:lnSpc>
            <a:spcBef>
              <a:spcPct val="0"/>
            </a:spcBef>
            <a:spcAft>
              <a:spcPct val="35000"/>
            </a:spcAft>
            <a:buNone/>
          </a:pPr>
          <a:r>
            <a:rPr lang="es-AR" sz="1500" b="1" kern="1200" dirty="0"/>
            <a:t>Word2Vec</a:t>
          </a:r>
          <a:r>
            <a:rPr lang="es-AR" sz="1500" kern="1200" dirty="0"/>
            <a:t>: técnica de procesamiento de lenguaje natural (NLP), que obtiene representaciones vectoriales de palabras. Los Vectores capturan información de palabras sobre el significado de la palabra basándose en palabras de los alrededores.</a:t>
          </a:r>
          <a:endParaRPr lang="en-US" sz="1500" kern="1200" dirty="0"/>
        </a:p>
      </dsp:txBody>
      <dsp:txXfrm>
        <a:off x="1437631" y="531"/>
        <a:ext cx="9077968" cy="1244702"/>
      </dsp:txXfrm>
    </dsp:sp>
    <dsp:sp modelId="{DCECC49B-75B5-4539-BF65-A97769B2F36B}">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CBCA54-1534-484A-952F-1AF1B266B6A0}">
      <dsp:nvSpPr>
        <dsp:cNvPr id="0" name=""/>
        <dsp:cNvSpPr/>
      </dsp:nvSpPr>
      <dsp:spPr>
        <a:xfrm>
          <a:off x="376522" y="1836468"/>
          <a:ext cx="684586" cy="68458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3503209-01F5-462A-AD6B-7F8B34570AB6}">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666750">
            <a:lnSpc>
              <a:spcPct val="90000"/>
            </a:lnSpc>
            <a:spcBef>
              <a:spcPct val="0"/>
            </a:spcBef>
            <a:spcAft>
              <a:spcPct val="35000"/>
            </a:spcAft>
            <a:buNone/>
          </a:pPr>
          <a:r>
            <a:rPr lang="es-AR" sz="1500" b="1" kern="1200" dirty="0"/>
            <a:t>ARIMA</a:t>
          </a:r>
          <a:r>
            <a:rPr lang="es-AR" sz="1500" kern="1200" dirty="0"/>
            <a:t>: Media Móvil Integrada Autorregresiva es un modelo estadístico utilizado para el análisis y la predicción de series temporales. Su objetivo es modelar y pronosticar valores futuros basándose únicamente en los datos pasados de la misma serie.</a:t>
          </a:r>
          <a:endParaRPr lang="en-US" sz="1500" kern="1200" dirty="0"/>
        </a:p>
      </dsp:txBody>
      <dsp:txXfrm>
        <a:off x="1437631" y="1556410"/>
        <a:ext cx="9077968" cy="1244702"/>
      </dsp:txXfrm>
    </dsp:sp>
    <dsp:sp modelId="{88C59613-6503-4AAA-870A-D52ACC6E3DF7}">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43BABD-E0BC-40D9-9A1F-1998C2C8BE37}">
      <dsp:nvSpPr>
        <dsp:cNvPr id="0" name=""/>
        <dsp:cNvSpPr/>
      </dsp:nvSpPr>
      <dsp:spPr>
        <a:xfrm>
          <a:off x="376522" y="3392347"/>
          <a:ext cx="684586" cy="68458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A480D8A-BD8B-4C18-A386-E5A81498F087}">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666750">
            <a:lnSpc>
              <a:spcPct val="90000"/>
            </a:lnSpc>
            <a:spcBef>
              <a:spcPct val="0"/>
            </a:spcBef>
            <a:spcAft>
              <a:spcPct val="35000"/>
            </a:spcAft>
            <a:buNone/>
          </a:pPr>
          <a:r>
            <a:rPr lang="es-AR" sz="1500" b="1" kern="1200" dirty="0"/>
            <a:t>Prophet</a:t>
          </a:r>
          <a:r>
            <a:rPr lang="es-AR" sz="1500" kern="1200" dirty="0"/>
            <a:t>: herramienta de código abierto de Meta (Facebook) diseñada para hacer predicciones en datos de series temporales de forma sencilla. Funciona descomponiendo los datos en una tendencia, estacionalidad (anual, semanal, diaria) y efectos de días festivos. La predicción se realiza mediante un modelo aditivo, y se proporcionan intervalos de confianza para medir la incertidumbre.</a:t>
          </a:r>
          <a:endParaRPr lang="en-US" sz="1500" kern="1200" dirty="0"/>
        </a:p>
      </dsp:txBody>
      <dsp:txXfrm>
        <a:off x="1437631" y="3112289"/>
        <a:ext cx="9077968" cy="124470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5" name="Footer Placeholder 4"/>
          <p:cNvSpPr>
            <a:spLocks noGrp="1"/>
          </p:cNvSpPr>
          <p:nvPr>
            <p:ph type="ftr" sz="quarter" idx="11"/>
          </p:nvPr>
        </p:nvSpPr>
        <p:spPr/>
        <p:txBody>
          <a:bodyPr/>
          <a:lstStyle/>
          <a:p>
            <a:endParaRPr lang="es-AR" dirty="0"/>
          </a:p>
        </p:txBody>
      </p:sp>
      <p:sp>
        <p:nvSpPr>
          <p:cNvPr id="6" name="Slide Number Placeholder 5"/>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2060058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5" name="Footer Placeholder 4"/>
          <p:cNvSpPr>
            <a:spLocks noGrp="1"/>
          </p:cNvSpPr>
          <p:nvPr>
            <p:ph type="ftr" sz="quarter" idx="11"/>
          </p:nvPr>
        </p:nvSpPr>
        <p:spPr/>
        <p:txBody>
          <a:bodyPr/>
          <a:lstStyle/>
          <a:p>
            <a:endParaRPr lang="es-AR" dirty="0"/>
          </a:p>
        </p:txBody>
      </p:sp>
      <p:sp>
        <p:nvSpPr>
          <p:cNvPr id="6" name="Slide Number Placeholder 5"/>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885321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5" name="Footer Placeholder 4"/>
          <p:cNvSpPr>
            <a:spLocks noGrp="1"/>
          </p:cNvSpPr>
          <p:nvPr>
            <p:ph type="ftr" sz="quarter" idx="11"/>
          </p:nvPr>
        </p:nvSpPr>
        <p:spPr/>
        <p:txBody>
          <a:bodyPr/>
          <a:lstStyle/>
          <a:p>
            <a:endParaRPr lang="es-AR" dirty="0"/>
          </a:p>
        </p:txBody>
      </p:sp>
      <p:sp>
        <p:nvSpPr>
          <p:cNvPr id="6" name="Slide Number Placeholder 5"/>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9949550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6" name="Footer Placeholder 5"/>
          <p:cNvSpPr>
            <a:spLocks noGrp="1"/>
          </p:cNvSpPr>
          <p:nvPr>
            <p:ph type="ftr" sz="quarter" idx="11"/>
          </p:nvPr>
        </p:nvSpPr>
        <p:spPr/>
        <p:txBody>
          <a:bodyPr/>
          <a:lstStyle/>
          <a:p>
            <a:endParaRPr lang="es-AR" dirty="0"/>
          </a:p>
        </p:txBody>
      </p:sp>
      <p:sp>
        <p:nvSpPr>
          <p:cNvPr id="7" name="Slide Number Placeholder 6"/>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11965095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8" name="Footer Placeholder 7"/>
          <p:cNvSpPr>
            <a:spLocks noGrp="1"/>
          </p:cNvSpPr>
          <p:nvPr>
            <p:ph type="ftr" sz="quarter" idx="11"/>
          </p:nvPr>
        </p:nvSpPr>
        <p:spPr/>
        <p:txBody>
          <a:bodyPr/>
          <a:lstStyle/>
          <a:p>
            <a:endParaRPr lang="es-AR" dirty="0"/>
          </a:p>
        </p:txBody>
      </p:sp>
      <p:sp>
        <p:nvSpPr>
          <p:cNvPr id="9" name="Slide Number Placeholder 8"/>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14624561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4" name="Footer Placeholder 3"/>
          <p:cNvSpPr>
            <a:spLocks noGrp="1"/>
          </p:cNvSpPr>
          <p:nvPr>
            <p:ph type="ftr" sz="quarter" idx="11"/>
          </p:nvPr>
        </p:nvSpPr>
        <p:spPr/>
        <p:txBody>
          <a:bodyPr/>
          <a:lstStyle/>
          <a:p>
            <a:endParaRPr lang="es-AR" dirty="0"/>
          </a:p>
        </p:txBody>
      </p:sp>
      <p:sp>
        <p:nvSpPr>
          <p:cNvPr id="5" name="Slide Number Placeholder 4"/>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1643812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3" name="Footer Placeholder 2"/>
          <p:cNvSpPr>
            <a:spLocks noGrp="1"/>
          </p:cNvSpPr>
          <p:nvPr>
            <p:ph type="ftr" sz="quarter" idx="11"/>
          </p:nvPr>
        </p:nvSpPr>
        <p:spPr/>
        <p:txBody>
          <a:bodyPr/>
          <a:lstStyle/>
          <a:p>
            <a:endParaRPr lang="es-AR" dirty="0"/>
          </a:p>
        </p:txBody>
      </p:sp>
      <p:sp>
        <p:nvSpPr>
          <p:cNvPr id="4" name="Slide Number Placeholder 3"/>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39555084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6" name="Footer Placeholder 5"/>
          <p:cNvSpPr>
            <a:spLocks noGrp="1"/>
          </p:cNvSpPr>
          <p:nvPr>
            <p:ph type="ftr" sz="quarter" idx="11"/>
          </p:nvPr>
        </p:nvSpPr>
        <p:spPr/>
        <p:txBody>
          <a:bodyPr/>
          <a:lstStyle/>
          <a:p>
            <a:endParaRPr lang="es-AR" dirty="0"/>
          </a:p>
        </p:txBody>
      </p:sp>
      <p:sp>
        <p:nvSpPr>
          <p:cNvPr id="7" name="Slide Number Placeholder 6"/>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28386923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6" name="Footer Placeholder 5"/>
          <p:cNvSpPr>
            <a:spLocks noGrp="1"/>
          </p:cNvSpPr>
          <p:nvPr>
            <p:ph type="ftr" sz="quarter" idx="11"/>
          </p:nvPr>
        </p:nvSpPr>
        <p:spPr/>
        <p:txBody>
          <a:bodyPr/>
          <a:lstStyle/>
          <a:p>
            <a:endParaRPr lang="es-AR" dirty="0"/>
          </a:p>
        </p:txBody>
      </p:sp>
      <p:sp>
        <p:nvSpPr>
          <p:cNvPr id="7" name="Slide Number Placeholder 6"/>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2041775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5" name="Footer Placeholder 4"/>
          <p:cNvSpPr>
            <a:spLocks noGrp="1"/>
          </p:cNvSpPr>
          <p:nvPr>
            <p:ph type="ftr" sz="quarter" idx="11"/>
          </p:nvPr>
        </p:nvSpPr>
        <p:spPr/>
        <p:txBody>
          <a:bodyPr/>
          <a:lstStyle/>
          <a:p>
            <a:endParaRPr lang="es-AR" dirty="0"/>
          </a:p>
        </p:txBody>
      </p:sp>
      <p:sp>
        <p:nvSpPr>
          <p:cNvPr id="6" name="Slide Number Placeholder 5"/>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21219430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2D34B87-BA34-4607-A720-BE5C456498A2}" type="datetimeFigureOut">
              <a:rPr lang="es-AR" smtClean="0"/>
              <a:t>15/11/2025</a:t>
            </a:fld>
            <a:endParaRPr lang="es-AR" dirty="0"/>
          </a:p>
        </p:txBody>
      </p:sp>
      <p:sp>
        <p:nvSpPr>
          <p:cNvPr id="5" name="Footer Placeholder 4"/>
          <p:cNvSpPr>
            <a:spLocks noGrp="1"/>
          </p:cNvSpPr>
          <p:nvPr>
            <p:ph type="ftr" sz="quarter" idx="11"/>
          </p:nvPr>
        </p:nvSpPr>
        <p:spPr/>
        <p:txBody>
          <a:bodyPr/>
          <a:lstStyle/>
          <a:p>
            <a:endParaRPr lang="es-AR" dirty="0"/>
          </a:p>
        </p:txBody>
      </p:sp>
      <p:sp>
        <p:nvSpPr>
          <p:cNvPr id="6" name="Slide Number Placeholder 5"/>
          <p:cNvSpPr>
            <a:spLocks noGrp="1"/>
          </p:cNvSpPr>
          <p:nvPr>
            <p:ph type="sldNum" sz="quarter" idx="12"/>
          </p:nvPr>
        </p:nvSpPr>
        <p:spPr/>
        <p:txBody>
          <a:bodyPr/>
          <a:lstStyle/>
          <a:p>
            <a:fld id="{DA6A5EDE-23E0-4961-917D-3D0F2465A4EB}" type="slidenum">
              <a:rPr lang="es-AR" smtClean="0"/>
              <a:t>‹Nº›</a:t>
            </a:fld>
            <a:endParaRPr lang="es-AR" dirty="0"/>
          </a:p>
        </p:txBody>
      </p:sp>
    </p:spTree>
    <p:extLst>
      <p:ext uri="{BB962C8B-B14F-4D97-AF65-F5344CB8AC3E}">
        <p14:creationId xmlns:p14="http://schemas.microsoft.com/office/powerpoint/2010/main" val="1323970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B2D34B87-BA34-4607-A720-BE5C456498A2}" type="datetimeFigureOut">
              <a:rPr lang="es-AR" smtClean="0"/>
              <a:t>15/11/2025</a:t>
            </a:fld>
            <a:endParaRPr lang="es-AR"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s-AR"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DA6A5EDE-23E0-4961-917D-3D0F2465A4EB}" type="slidenum">
              <a:rPr lang="es-AR" smtClean="0"/>
              <a:t>‹Nº›</a:t>
            </a:fld>
            <a:endParaRPr lang="es-AR" dirty="0"/>
          </a:p>
        </p:txBody>
      </p:sp>
    </p:spTree>
    <p:extLst>
      <p:ext uri="{BB962C8B-B14F-4D97-AF65-F5344CB8AC3E}">
        <p14:creationId xmlns:p14="http://schemas.microsoft.com/office/powerpoint/2010/main" val="3250414820"/>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7.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Universidad Blas Pascal - Wikipedia, la enciclopedia libre">
            <a:extLst>
              <a:ext uri="{FF2B5EF4-FFF2-40B4-BE49-F238E27FC236}">
                <a16:creationId xmlns:a16="http://schemas.microsoft.com/office/drawing/2014/main" id="{CF4BB7A3-3791-4C03-ECF6-AB97B694564B}"/>
              </a:ext>
            </a:extLst>
          </p:cNvPr>
          <p:cNvPicPr>
            <a:picLocks noChangeAspect="1" noChangeArrowheads="1"/>
          </p:cNvPicPr>
          <p:nvPr/>
        </p:nvPicPr>
        <p:blipFill>
          <a:blip r:embed="rId2">
            <a:alphaModFix/>
            <a:extLst>
              <a:ext uri="{28A0092B-C50C-407E-A947-70E740481C1C}">
                <a14:useLocalDpi xmlns:a14="http://schemas.microsoft.com/office/drawing/2010/main" val="0"/>
              </a:ext>
            </a:extLst>
          </a:blip>
          <a:srcRect t="8715" r="-1" b="-1"/>
          <a:stretch>
            <a:fillRect/>
          </a:stretch>
        </p:blipFill>
        <p:spPr bwMode="auto">
          <a:xfrm>
            <a:off x="4283902" y="10"/>
            <a:ext cx="7908098" cy="685799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0EA085EF-28D5-F3A5-DA3F-745863623B6A}"/>
              </a:ext>
            </a:extLst>
          </p:cNvPr>
          <p:cNvSpPr>
            <a:spLocks noGrp="1"/>
          </p:cNvSpPr>
          <p:nvPr>
            <p:ph type="ctrTitle"/>
          </p:nvPr>
        </p:nvSpPr>
        <p:spPr>
          <a:xfrm>
            <a:off x="728663" y="1115219"/>
            <a:ext cx="7734401" cy="2387600"/>
          </a:xfrm>
        </p:spPr>
        <p:txBody>
          <a:bodyPr>
            <a:normAutofit/>
          </a:bodyPr>
          <a:lstStyle/>
          <a:p>
            <a:pPr algn="l"/>
            <a:r>
              <a:rPr lang="es-AR" sz="5400" dirty="0">
                <a:ln w="22225">
                  <a:solidFill>
                    <a:srgbClr val="FFFFFF"/>
                  </a:solidFill>
                </a:ln>
                <a:noFill/>
              </a:rPr>
              <a:t>SOCIAL TREND ANALYZER</a:t>
            </a:r>
            <a:endParaRPr lang="es-AR" sz="5000" b="1" dirty="0">
              <a:solidFill>
                <a:schemeClr val="bg1"/>
              </a:solidFill>
            </a:endParaRPr>
          </a:p>
        </p:txBody>
      </p:sp>
      <p:sp>
        <p:nvSpPr>
          <p:cNvPr id="3" name="Subtítulo 2">
            <a:extLst>
              <a:ext uri="{FF2B5EF4-FFF2-40B4-BE49-F238E27FC236}">
                <a16:creationId xmlns:a16="http://schemas.microsoft.com/office/drawing/2014/main" id="{494DA3B0-8BD0-2C53-BC95-91924EFB054C}"/>
              </a:ext>
            </a:extLst>
          </p:cNvPr>
          <p:cNvSpPr>
            <a:spLocks noGrp="1"/>
          </p:cNvSpPr>
          <p:nvPr>
            <p:ph type="subTitle" idx="1"/>
          </p:nvPr>
        </p:nvSpPr>
        <p:spPr>
          <a:xfrm>
            <a:off x="728663" y="3902075"/>
            <a:ext cx="5505449" cy="1655762"/>
          </a:xfrm>
        </p:spPr>
        <p:txBody>
          <a:bodyPr>
            <a:normAutofit/>
          </a:bodyPr>
          <a:lstStyle/>
          <a:p>
            <a:pPr algn="l"/>
            <a:r>
              <a:rPr lang="es-AR" sz="2000" b="1" dirty="0">
                <a:solidFill>
                  <a:schemeClr val="bg1"/>
                </a:solidFill>
              </a:rPr>
              <a:t>UNIVERSIDAD BLAS PASCAL</a:t>
            </a:r>
          </a:p>
          <a:p>
            <a:pPr algn="l"/>
            <a:r>
              <a:rPr lang="es-AR" sz="2000" b="1" dirty="0">
                <a:solidFill>
                  <a:schemeClr val="bg1"/>
                </a:solidFill>
              </a:rPr>
              <a:t>PROGRAMACIÓN DECLARATIVA - 2025</a:t>
            </a:r>
          </a:p>
          <a:p>
            <a:pPr algn="l"/>
            <a:r>
              <a:rPr lang="es-AR" sz="2000" b="1" dirty="0">
                <a:solidFill>
                  <a:schemeClr val="bg1"/>
                </a:solidFill>
              </a:rPr>
              <a:t>TOMAS MOLINA Y EDGAR KARPOWICZ</a:t>
            </a:r>
          </a:p>
        </p:txBody>
      </p:sp>
    </p:spTree>
    <p:extLst>
      <p:ext uri="{BB962C8B-B14F-4D97-AF65-F5344CB8AC3E}">
        <p14:creationId xmlns:p14="http://schemas.microsoft.com/office/powerpoint/2010/main" val="3163125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4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2000"/>
                                  </p:stCondLst>
                                  <p:iterate type="lt">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4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Gráfico">
            <a:extLst>
              <a:ext uri="{FF2B5EF4-FFF2-40B4-BE49-F238E27FC236}">
                <a16:creationId xmlns:a16="http://schemas.microsoft.com/office/drawing/2014/main" id="{5C39A84E-C921-9223-CA0D-1563EFCA846E}"/>
              </a:ext>
            </a:extLst>
          </p:cNvPr>
          <p:cNvPicPr>
            <a:picLocks noChangeAspect="1"/>
          </p:cNvPicPr>
          <p:nvPr/>
        </p:nvPicPr>
        <p:blipFill>
          <a:blip r:embed="rId2">
            <a:alphaModFix amt="35000"/>
          </a:blip>
          <a:srcRect t="6504" b="3496"/>
          <a:stretch>
            <a:fillRect/>
          </a:stretch>
        </p:blipFill>
        <p:spPr>
          <a:xfrm>
            <a:off x="20" y="1"/>
            <a:ext cx="12191980" cy="6857999"/>
          </a:xfrm>
          <a:prstGeom prst="rect">
            <a:avLst/>
          </a:prstGeom>
        </p:spPr>
      </p:pic>
      <p:sp>
        <p:nvSpPr>
          <p:cNvPr id="2" name="Título 1">
            <a:extLst>
              <a:ext uri="{FF2B5EF4-FFF2-40B4-BE49-F238E27FC236}">
                <a16:creationId xmlns:a16="http://schemas.microsoft.com/office/drawing/2014/main" id="{E5138726-F047-E0F3-E4F2-DC2D7D5A758C}"/>
              </a:ext>
            </a:extLst>
          </p:cNvPr>
          <p:cNvSpPr>
            <a:spLocks noGrp="1"/>
          </p:cNvSpPr>
          <p:nvPr>
            <p:ph type="title"/>
          </p:nvPr>
        </p:nvSpPr>
        <p:spPr>
          <a:xfrm>
            <a:off x="838199" y="1065862"/>
            <a:ext cx="6052955" cy="4726276"/>
          </a:xfrm>
        </p:spPr>
        <p:txBody>
          <a:bodyPr>
            <a:normAutofit/>
          </a:bodyPr>
          <a:lstStyle/>
          <a:p>
            <a:pPr algn="r"/>
            <a:r>
              <a:rPr lang="es-AR" sz="8000" dirty="0">
                <a:ln w="22225">
                  <a:solidFill>
                    <a:srgbClr val="FFFFFF"/>
                  </a:solidFill>
                </a:ln>
                <a:noFill/>
              </a:rPr>
              <a:t>CONSIGNA GENERAL:</a:t>
            </a:r>
          </a:p>
        </p:txBody>
      </p:sp>
      <p:sp>
        <p:nvSpPr>
          <p:cNvPr id="3" name="Marcador de contenido 2">
            <a:extLst>
              <a:ext uri="{FF2B5EF4-FFF2-40B4-BE49-F238E27FC236}">
                <a16:creationId xmlns:a16="http://schemas.microsoft.com/office/drawing/2014/main" id="{F217D342-63D6-E221-F3EB-9D9D8A2ADFC7}"/>
              </a:ext>
            </a:extLst>
          </p:cNvPr>
          <p:cNvSpPr>
            <a:spLocks noGrp="1"/>
          </p:cNvSpPr>
          <p:nvPr>
            <p:ph idx="1"/>
          </p:nvPr>
        </p:nvSpPr>
        <p:spPr>
          <a:xfrm>
            <a:off x="7534641" y="1065862"/>
            <a:ext cx="3860002" cy="4726276"/>
          </a:xfrm>
        </p:spPr>
        <p:txBody>
          <a:bodyPr anchor="ctr">
            <a:normAutofit/>
          </a:bodyPr>
          <a:lstStyle/>
          <a:p>
            <a:r>
              <a:rPr lang="es-AR" sz="1700" dirty="0">
                <a:solidFill>
                  <a:srgbClr val="FFFFFF"/>
                </a:solidFill>
              </a:rPr>
              <a:t>Dado un dataset de publicaciones (usuario, texto, hashtags, likes):</a:t>
            </a:r>
          </a:p>
          <a:p>
            <a:pPr lvl="1"/>
            <a:r>
              <a:rPr lang="es-AR" sz="1700" dirty="0">
                <a:solidFill>
                  <a:srgbClr val="FFFFFF"/>
                </a:solidFill>
              </a:rPr>
              <a:t>Procesar datos con pandas (hashtags más usados, usuarios más activos).</a:t>
            </a:r>
          </a:p>
          <a:p>
            <a:pPr lvl="1"/>
            <a:r>
              <a:rPr lang="es-AR" sz="1700" dirty="0">
                <a:solidFill>
                  <a:srgbClr val="FFFFFF"/>
                </a:solidFill>
              </a:rPr>
              <a:t>Usar NumPy para calcular métricas de popularidad y engagement.</a:t>
            </a:r>
          </a:p>
          <a:p>
            <a:pPr lvl="1"/>
            <a:r>
              <a:rPr lang="es-AR" sz="1700" dirty="0">
                <a:solidFill>
                  <a:srgbClr val="FFFFFF"/>
                </a:solidFill>
              </a:rPr>
              <a:t>Graficar con Matplotlib las tendencias de hashtags en el tiempo.</a:t>
            </a:r>
          </a:p>
          <a:p>
            <a:pPr lvl="1"/>
            <a:r>
              <a:rPr lang="es-AR" sz="1700" dirty="0">
                <a:solidFill>
                  <a:srgbClr val="FFFFFF"/>
                </a:solidFill>
              </a:rPr>
              <a:t>Entrenar un modelo de IA (NLP básico con TF-IDF + clustering o regresión logística) para clasificar publicaciones entre “alta” o “baja” relevancia.</a:t>
            </a:r>
          </a:p>
          <a:p>
            <a:endParaRPr lang="es-AR" sz="1700" dirty="0">
              <a:solidFill>
                <a:srgbClr val="FFFFFF"/>
              </a:solidFill>
            </a:endParaRPr>
          </a:p>
        </p:txBody>
      </p:sp>
    </p:spTree>
    <p:extLst>
      <p:ext uri="{BB962C8B-B14F-4D97-AF65-F5344CB8AC3E}">
        <p14:creationId xmlns:p14="http://schemas.microsoft.com/office/powerpoint/2010/main" val="2888469273"/>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858B76-CCD0-6E0C-B988-D10560202BE9}"/>
              </a:ext>
            </a:extLst>
          </p:cNvPr>
          <p:cNvSpPr>
            <a:spLocks noGrp="1"/>
          </p:cNvSpPr>
          <p:nvPr>
            <p:ph type="title"/>
          </p:nvPr>
        </p:nvSpPr>
        <p:spPr>
          <a:xfrm>
            <a:off x="838200" y="448721"/>
            <a:ext cx="4707671" cy="1225650"/>
          </a:xfrm>
        </p:spPr>
        <p:txBody>
          <a:bodyPr anchor="b">
            <a:normAutofit/>
          </a:bodyPr>
          <a:lstStyle/>
          <a:p>
            <a:r>
              <a:rPr lang="es-AR" sz="5400" dirty="0">
                <a:ln w="22225">
                  <a:solidFill>
                    <a:srgbClr val="FFFFFF"/>
                  </a:solidFill>
                </a:ln>
                <a:noFill/>
              </a:rPr>
              <a:t>RESULTADO</a:t>
            </a:r>
            <a:endParaRPr lang="es-AR" sz="5400" dirty="0">
              <a:solidFill>
                <a:schemeClr val="bg1"/>
              </a:solidFill>
            </a:endParaRPr>
          </a:p>
        </p:txBody>
      </p:sp>
      <p:graphicFrame>
        <p:nvGraphicFramePr>
          <p:cNvPr id="35" name="Marcador de contenido 2">
            <a:extLst>
              <a:ext uri="{FF2B5EF4-FFF2-40B4-BE49-F238E27FC236}">
                <a16:creationId xmlns:a16="http://schemas.microsoft.com/office/drawing/2014/main" id="{D285FD26-B30A-D985-B8A9-AEFA16903A1E}"/>
              </a:ext>
            </a:extLst>
          </p:cNvPr>
          <p:cNvGraphicFramePr>
            <a:graphicFrameLocks noGrp="1"/>
          </p:cNvGraphicFramePr>
          <p:nvPr>
            <p:ph idx="1"/>
            <p:extLst>
              <p:ext uri="{D42A27DB-BD31-4B8C-83A1-F6EECF244321}">
                <p14:modId xmlns:p14="http://schemas.microsoft.com/office/powerpoint/2010/main" val="319478356"/>
              </p:ext>
            </p:extLst>
          </p:nvPr>
        </p:nvGraphicFramePr>
        <p:xfrm>
          <a:off x="897769" y="1909192"/>
          <a:ext cx="4586513" cy="36477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Imagen 4" descr="Captura de pantalla de computadora&#10;&#10;El contenido generado por IA puede ser incorrecto.">
            <a:extLst>
              <a:ext uri="{FF2B5EF4-FFF2-40B4-BE49-F238E27FC236}">
                <a16:creationId xmlns:a16="http://schemas.microsoft.com/office/drawing/2014/main" id="{CB33C79C-7FBE-536A-724B-92AF155C82C4}"/>
              </a:ext>
            </a:extLst>
          </p:cNvPr>
          <p:cNvPicPr>
            <a:picLocks noChangeAspect="1"/>
          </p:cNvPicPr>
          <p:nvPr/>
        </p:nvPicPr>
        <p:blipFill>
          <a:blip r:embed="rId7"/>
          <a:stretch>
            <a:fillRect/>
          </a:stretch>
        </p:blipFill>
        <p:spPr>
          <a:xfrm>
            <a:off x="5640745" y="2078395"/>
            <a:ext cx="6394792" cy="3309304"/>
          </a:xfrm>
          <a:prstGeom prst="rect">
            <a:avLst/>
          </a:prstGeom>
        </p:spPr>
      </p:pic>
    </p:spTree>
    <p:extLst>
      <p:ext uri="{BB962C8B-B14F-4D97-AF65-F5344CB8AC3E}">
        <p14:creationId xmlns:p14="http://schemas.microsoft.com/office/powerpoint/2010/main" val="4331882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005E1D-45E7-CAC5-B87A-BB9A3934B286}"/>
              </a:ext>
            </a:extLst>
          </p:cNvPr>
          <p:cNvSpPr>
            <a:spLocks noGrp="1"/>
          </p:cNvSpPr>
          <p:nvPr>
            <p:ph type="title"/>
          </p:nvPr>
        </p:nvSpPr>
        <p:spPr>
          <a:xfrm>
            <a:off x="6726578" y="685680"/>
            <a:ext cx="4203323" cy="3596201"/>
          </a:xfrm>
        </p:spPr>
        <p:txBody>
          <a:bodyPr vert="horz" lIns="91440" tIns="45720" rIns="91440" bIns="45720" rtlCol="0" anchor="b">
            <a:normAutofit/>
          </a:bodyPr>
          <a:lstStyle/>
          <a:p>
            <a:pPr algn="r"/>
            <a:r>
              <a:rPr lang="es-AR" sz="4000" dirty="0">
                <a:ln w="22225">
                  <a:solidFill>
                    <a:srgbClr val="FFFFFF"/>
                  </a:solidFill>
                </a:ln>
                <a:noFill/>
              </a:rPr>
              <a:t>CARACTERÍSTICAS</a:t>
            </a:r>
            <a:endParaRPr lang="en-US" sz="3800" kern="1200" dirty="0">
              <a:solidFill>
                <a:schemeClr val="bg1"/>
              </a:solidFill>
              <a:latin typeface="+mj-lt"/>
              <a:ea typeface="+mj-ea"/>
              <a:cs typeface="+mj-cs"/>
            </a:endParaRPr>
          </a:p>
        </p:txBody>
      </p:sp>
      <p:graphicFrame>
        <p:nvGraphicFramePr>
          <p:cNvPr id="7" name="Tabla 6">
            <a:extLst>
              <a:ext uri="{FF2B5EF4-FFF2-40B4-BE49-F238E27FC236}">
                <a16:creationId xmlns:a16="http://schemas.microsoft.com/office/drawing/2014/main" id="{9ABFBBE0-DEE9-959A-D809-B1013F8BAB9A}"/>
              </a:ext>
            </a:extLst>
          </p:cNvPr>
          <p:cNvGraphicFramePr>
            <a:graphicFrameLocks noGrp="1"/>
          </p:cNvGraphicFramePr>
          <p:nvPr>
            <p:extLst>
              <p:ext uri="{D42A27DB-BD31-4B8C-83A1-F6EECF244321}">
                <p14:modId xmlns:p14="http://schemas.microsoft.com/office/powerpoint/2010/main" val="1190909671"/>
              </p:ext>
            </p:extLst>
          </p:nvPr>
        </p:nvGraphicFramePr>
        <p:xfrm>
          <a:off x="1700022" y="2009856"/>
          <a:ext cx="4172846" cy="2679948"/>
        </p:xfrm>
        <a:graphic>
          <a:graphicData uri="http://schemas.openxmlformats.org/drawingml/2006/table">
            <a:tbl>
              <a:tblPr firstRow="1" bandRow="1">
                <a:tableStyleId>{8EC20E35-A176-4012-BC5E-935CFFF8708E}</a:tableStyleId>
              </a:tblPr>
              <a:tblGrid>
                <a:gridCol w="1464857">
                  <a:extLst>
                    <a:ext uri="{9D8B030D-6E8A-4147-A177-3AD203B41FA5}">
                      <a16:colId xmlns:a16="http://schemas.microsoft.com/office/drawing/2014/main" val="160450597"/>
                    </a:ext>
                  </a:extLst>
                </a:gridCol>
                <a:gridCol w="1504978">
                  <a:extLst>
                    <a:ext uri="{9D8B030D-6E8A-4147-A177-3AD203B41FA5}">
                      <a16:colId xmlns:a16="http://schemas.microsoft.com/office/drawing/2014/main" val="1041636422"/>
                    </a:ext>
                  </a:extLst>
                </a:gridCol>
                <a:gridCol w="1203011">
                  <a:extLst>
                    <a:ext uri="{9D8B030D-6E8A-4147-A177-3AD203B41FA5}">
                      <a16:colId xmlns:a16="http://schemas.microsoft.com/office/drawing/2014/main" val="3536188790"/>
                    </a:ext>
                  </a:extLst>
                </a:gridCol>
              </a:tblGrid>
              <a:tr h="267590">
                <a:tc>
                  <a:txBody>
                    <a:bodyPr/>
                    <a:lstStyle/>
                    <a:p>
                      <a:r>
                        <a:rPr lang="es-AR" sz="1200" dirty="0"/>
                        <a:t>Característica</a:t>
                      </a:r>
                    </a:p>
                  </a:txBody>
                  <a:tcPr marL="60816" marR="60816" marT="30408" marB="30408"/>
                </a:tc>
                <a:tc>
                  <a:txBody>
                    <a:bodyPr/>
                    <a:lstStyle/>
                    <a:p>
                      <a:r>
                        <a:rPr lang="es-AR" sz="1200" dirty="0"/>
                        <a:t>Descripción</a:t>
                      </a:r>
                    </a:p>
                  </a:txBody>
                  <a:tcPr marL="60816" marR="60816" marT="30408" marB="30408"/>
                </a:tc>
                <a:tc>
                  <a:txBody>
                    <a:bodyPr/>
                    <a:lstStyle/>
                    <a:p>
                      <a:r>
                        <a:rPr lang="es-AR" sz="1200" dirty="0"/>
                        <a:t>Tecnología</a:t>
                      </a:r>
                    </a:p>
                  </a:txBody>
                  <a:tcPr marL="60816" marR="60816" marT="30408" marB="30408"/>
                </a:tc>
                <a:extLst>
                  <a:ext uri="{0D108BD9-81ED-4DB2-BD59-A6C34878D82A}">
                    <a16:rowId xmlns:a16="http://schemas.microsoft.com/office/drawing/2014/main" val="2518491610"/>
                  </a:ext>
                </a:extLst>
              </a:tr>
              <a:tr h="510852">
                <a:tc>
                  <a:txBody>
                    <a:bodyPr/>
                    <a:lstStyle/>
                    <a:p>
                      <a:r>
                        <a:rPr lang="es-AR" sz="900" dirty="0"/>
                        <a:t>Análisis Estadístico</a:t>
                      </a:r>
                    </a:p>
                  </a:txBody>
                  <a:tcPr marL="60816" marR="60816" marT="30408" marB="30408"/>
                </a:tc>
                <a:tc>
                  <a:txBody>
                    <a:bodyPr/>
                    <a:lstStyle/>
                    <a:p>
                      <a:r>
                        <a:rPr lang="es-AR" sz="900" dirty="0"/>
                        <a:t>Obtiene métricas de usuarios más activos, hashtags populares, etc.</a:t>
                      </a:r>
                    </a:p>
                  </a:txBody>
                  <a:tcPr marL="60816" marR="60816" marT="30408" marB="30408"/>
                </a:tc>
                <a:tc>
                  <a:txBody>
                    <a:bodyPr/>
                    <a:lstStyle/>
                    <a:p>
                      <a:r>
                        <a:rPr lang="es-AR" sz="900" dirty="0"/>
                        <a:t>Pandas y NumPy</a:t>
                      </a:r>
                    </a:p>
                  </a:txBody>
                  <a:tcPr marL="60816" marR="60816" marT="30408" marB="30408"/>
                </a:tc>
                <a:extLst>
                  <a:ext uri="{0D108BD9-81ED-4DB2-BD59-A6C34878D82A}">
                    <a16:rowId xmlns:a16="http://schemas.microsoft.com/office/drawing/2014/main" val="1967588487"/>
                  </a:ext>
                </a:extLst>
              </a:tr>
              <a:tr h="368949">
                <a:tc>
                  <a:txBody>
                    <a:bodyPr/>
                    <a:lstStyle/>
                    <a:p>
                      <a:r>
                        <a:rPr lang="es-AR" sz="900" dirty="0"/>
                        <a:t>Visualización de Tendencias</a:t>
                      </a:r>
                    </a:p>
                  </a:txBody>
                  <a:tcPr marL="60816" marR="60816" marT="30408" marB="30408"/>
                </a:tc>
                <a:tc>
                  <a:txBody>
                    <a:bodyPr/>
                    <a:lstStyle/>
                    <a:p>
                      <a:r>
                        <a:rPr lang="es-AR" sz="900" dirty="0"/>
                        <a:t>Gráficos de Popularidad de Hashtags Interactivo </a:t>
                      </a:r>
                    </a:p>
                  </a:txBody>
                  <a:tcPr marL="60816" marR="60816" marT="30408" marB="30408"/>
                </a:tc>
                <a:tc>
                  <a:txBody>
                    <a:bodyPr/>
                    <a:lstStyle/>
                    <a:p>
                      <a:r>
                        <a:rPr lang="es-AR" sz="900" dirty="0"/>
                        <a:t>Matplotlib, Pandas, Pivot</a:t>
                      </a:r>
                    </a:p>
                  </a:txBody>
                  <a:tcPr marL="60816" marR="60816" marT="30408" marB="30408"/>
                </a:tc>
                <a:extLst>
                  <a:ext uri="{0D108BD9-81ED-4DB2-BD59-A6C34878D82A}">
                    <a16:rowId xmlns:a16="http://schemas.microsoft.com/office/drawing/2014/main" val="259290023"/>
                  </a:ext>
                </a:extLst>
              </a:tr>
              <a:tr h="510852">
                <a:tc>
                  <a:txBody>
                    <a:bodyPr/>
                    <a:lstStyle/>
                    <a:p>
                      <a:r>
                        <a:rPr lang="es-AR" sz="900" dirty="0"/>
                        <a:t>Clasificación con Machine-Learning</a:t>
                      </a:r>
                    </a:p>
                  </a:txBody>
                  <a:tcPr marL="60816" marR="60816" marT="30408" marB="30408"/>
                </a:tc>
                <a:tc>
                  <a:txBody>
                    <a:bodyPr/>
                    <a:lstStyle/>
                    <a:p>
                      <a:r>
                        <a:rPr lang="es-AR" sz="900" dirty="0"/>
                        <a:t>TF-IDF + Regresión Logistica para predecir relevancia de Posts</a:t>
                      </a:r>
                    </a:p>
                  </a:txBody>
                  <a:tcPr marL="60816" marR="60816" marT="30408" marB="30408"/>
                </a:tc>
                <a:tc>
                  <a:txBody>
                    <a:bodyPr/>
                    <a:lstStyle/>
                    <a:p>
                      <a:r>
                        <a:rPr lang="es-AR" sz="900" dirty="0"/>
                        <a:t>Scikit-Learn</a:t>
                      </a:r>
                    </a:p>
                  </a:txBody>
                  <a:tcPr marL="60816" marR="60816" marT="30408" marB="30408"/>
                </a:tc>
                <a:extLst>
                  <a:ext uri="{0D108BD9-81ED-4DB2-BD59-A6C34878D82A}">
                    <a16:rowId xmlns:a16="http://schemas.microsoft.com/office/drawing/2014/main" val="1387911017"/>
                  </a:ext>
                </a:extLst>
              </a:tr>
              <a:tr h="794659">
                <a:tc>
                  <a:txBody>
                    <a:bodyPr/>
                    <a:lstStyle/>
                    <a:p>
                      <a:r>
                        <a:rPr lang="es-AR" sz="900" dirty="0"/>
                        <a:t>Predicciones en Tiempo Real</a:t>
                      </a:r>
                    </a:p>
                  </a:txBody>
                  <a:tcPr marL="60816" marR="60816" marT="30408" marB="30408"/>
                </a:tc>
                <a:tc>
                  <a:txBody>
                    <a:bodyPr/>
                    <a:lstStyle/>
                    <a:p>
                      <a:r>
                        <a:rPr lang="es-AR" sz="900" dirty="0"/>
                        <a:t>Se puede ingresar Texto / Hashtags / Likes para obtener una Predicción y la Confiabilidad de la misma</a:t>
                      </a:r>
                    </a:p>
                  </a:txBody>
                  <a:tcPr marL="60816" marR="60816" marT="30408" marB="30408"/>
                </a:tc>
                <a:tc>
                  <a:txBody>
                    <a:bodyPr/>
                    <a:lstStyle/>
                    <a:p>
                      <a:r>
                        <a:rPr lang="es-AR" sz="900" dirty="0"/>
                        <a:t>Modelo Entrenado</a:t>
                      </a:r>
                    </a:p>
                  </a:txBody>
                  <a:tcPr marL="60816" marR="60816" marT="30408" marB="30408"/>
                </a:tc>
                <a:extLst>
                  <a:ext uri="{0D108BD9-81ED-4DB2-BD59-A6C34878D82A}">
                    <a16:rowId xmlns:a16="http://schemas.microsoft.com/office/drawing/2014/main" val="835236344"/>
                  </a:ext>
                </a:extLst>
              </a:tr>
              <a:tr h="227046">
                <a:tc>
                  <a:txBody>
                    <a:bodyPr/>
                    <a:lstStyle/>
                    <a:p>
                      <a:r>
                        <a:rPr lang="es-AR" sz="900" dirty="0"/>
                        <a:t>Carga de Datos Flexible</a:t>
                      </a:r>
                    </a:p>
                  </a:txBody>
                  <a:tcPr marL="60816" marR="60816" marT="30408" marB="30408"/>
                </a:tc>
                <a:tc>
                  <a:txBody>
                    <a:bodyPr/>
                    <a:lstStyle/>
                    <a:p>
                      <a:r>
                        <a:rPr lang="es-AR" sz="900" dirty="0"/>
                        <a:t>Auto-Valida, Parsea, etc.</a:t>
                      </a:r>
                    </a:p>
                  </a:txBody>
                  <a:tcPr marL="60816" marR="60816" marT="30408" marB="30408"/>
                </a:tc>
                <a:tc>
                  <a:txBody>
                    <a:bodyPr/>
                    <a:lstStyle/>
                    <a:p>
                      <a:r>
                        <a:rPr lang="es-AR" sz="900" dirty="0"/>
                        <a:t>Pandas</a:t>
                      </a:r>
                    </a:p>
                  </a:txBody>
                  <a:tcPr marL="60816" marR="60816" marT="30408" marB="30408"/>
                </a:tc>
                <a:extLst>
                  <a:ext uri="{0D108BD9-81ED-4DB2-BD59-A6C34878D82A}">
                    <a16:rowId xmlns:a16="http://schemas.microsoft.com/office/drawing/2014/main" val="1639476665"/>
                  </a:ext>
                </a:extLst>
              </a:tr>
            </a:tbl>
          </a:graphicData>
        </a:graphic>
      </p:graphicFrame>
    </p:spTree>
    <p:extLst>
      <p:ext uri="{BB962C8B-B14F-4D97-AF65-F5344CB8AC3E}">
        <p14:creationId xmlns:p14="http://schemas.microsoft.com/office/powerpoint/2010/main" val="2351299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Imagen 4" descr="Interfaz de usuario gráfica&#10;&#10;El contenido generado por IA puede ser incorrecto.">
            <a:extLst>
              <a:ext uri="{FF2B5EF4-FFF2-40B4-BE49-F238E27FC236}">
                <a16:creationId xmlns:a16="http://schemas.microsoft.com/office/drawing/2014/main" id="{99D1E003-76B5-5CA8-4E52-E72DFA27EB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487" y="145669"/>
            <a:ext cx="10899025" cy="6566661"/>
          </a:xfrm>
          <a:prstGeom prst="rect">
            <a:avLst/>
          </a:prstGeom>
        </p:spPr>
      </p:pic>
    </p:spTree>
    <p:extLst>
      <p:ext uri="{BB962C8B-B14F-4D97-AF65-F5344CB8AC3E}">
        <p14:creationId xmlns:p14="http://schemas.microsoft.com/office/powerpoint/2010/main" val="1973120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Imagen 4" descr="Interfaz de usuario gráfica&#10;&#10;El contenido generado por IA puede ser incorrecto.">
            <a:extLst>
              <a:ext uri="{FF2B5EF4-FFF2-40B4-BE49-F238E27FC236}">
                <a16:creationId xmlns:a16="http://schemas.microsoft.com/office/drawing/2014/main" id="{597EB38E-5E91-9D56-49E9-24E9DC0174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2445" y="228814"/>
            <a:ext cx="10407109" cy="6400372"/>
          </a:xfrm>
          <a:prstGeom prst="rect">
            <a:avLst/>
          </a:prstGeom>
        </p:spPr>
      </p:pic>
    </p:spTree>
    <p:extLst>
      <p:ext uri="{BB962C8B-B14F-4D97-AF65-F5344CB8AC3E}">
        <p14:creationId xmlns:p14="http://schemas.microsoft.com/office/powerpoint/2010/main" val="1795287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8BF81C-833D-C602-2CCB-8CB21C20C9D8}"/>
              </a:ext>
            </a:extLst>
          </p:cNvPr>
          <p:cNvSpPr>
            <a:spLocks noGrp="1"/>
          </p:cNvSpPr>
          <p:nvPr>
            <p:ph type="title"/>
          </p:nvPr>
        </p:nvSpPr>
        <p:spPr/>
        <p:txBody>
          <a:bodyPr/>
          <a:lstStyle/>
          <a:p>
            <a:r>
              <a:rPr lang="es-AR" dirty="0">
                <a:ln w="22225">
                  <a:solidFill>
                    <a:srgbClr val="FFFFFF"/>
                  </a:solidFill>
                </a:ln>
                <a:noFill/>
              </a:rPr>
              <a:t>MEJORAS A FUTURO</a:t>
            </a:r>
            <a:endParaRPr lang="es-AR" dirty="0"/>
          </a:p>
        </p:txBody>
      </p:sp>
      <p:graphicFrame>
        <p:nvGraphicFramePr>
          <p:cNvPr id="5" name="Marcador de contenido 2">
            <a:extLst>
              <a:ext uri="{FF2B5EF4-FFF2-40B4-BE49-F238E27FC236}">
                <a16:creationId xmlns:a16="http://schemas.microsoft.com/office/drawing/2014/main" id="{424020EE-A619-A115-816F-D6A66F4C5D80}"/>
              </a:ext>
            </a:extLst>
          </p:cNvPr>
          <p:cNvGraphicFramePr>
            <a:graphicFrameLocks noGrp="1"/>
          </p:cNvGraphicFramePr>
          <p:nvPr>
            <p:ph idx="1"/>
            <p:extLst>
              <p:ext uri="{D42A27DB-BD31-4B8C-83A1-F6EECF244321}">
                <p14:modId xmlns:p14="http://schemas.microsoft.com/office/powerpoint/2010/main" val="138463718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96057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3AAED148-B6BC-A505-4A57-36F3B463F97C}"/>
              </a:ext>
            </a:extLst>
          </p:cNvPr>
          <p:cNvSpPr>
            <a:spLocks noGrp="1"/>
          </p:cNvSpPr>
          <p:nvPr>
            <p:ph type="title"/>
          </p:nvPr>
        </p:nvSpPr>
        <p:spPr>
          <a:xfrm>
            <a:off x="841248" y="256032"/>
            <a:ext cx="10506456" cy="1014984"/>
          </a:xfrm>
        </p:spPr>
        <p:txBody>
          <a:bodyPr anchor="b">
            <a:normAutofit/>
          </a:bodyPr>
          <a:lstStyle/>
          <a:p>
            <a:r>
              <a:rPr lang="es-AR" dirty="0">
                <a:ln w="22225">
                  <a:solidFill>
                    <a:srgbClr val="FFFFFF"/>
                  </a:solidFill>
                </a:ln>
                <a:noFill/>
              </a:rPr>
              <a:t>CONCEPTOS IMPORTANTES</a:t>
            </a:r>
            <a:endParaRPr lang="es-AR" dirty="0"/>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graphicFrame>
        <p:nvGraphicFramePr>
          <p:cNvPr id="5" name="Marcador de contenido 2">
            <a:extLst>
              <a:ext uri="{FF2B5EF4-FFF2-40B4-BE49-F238E27FC236}">
                <a16:creationId xmlns:a16="http://schemas.microsoft.com/office/drawing/2014/main" id="{21688BB8-858F-A035-2EC7-A844CB5C23C9}"/>
              </a:ext>
            </a:extLst>
          </p:cNvPr>
          <p:cNvGraphicFramePr>
            <a:graphicFrameLocks noGrp="1"/>
          </p:cNvGraphicFramePr>
          <p:nvPr>
            <p:ph idx="1"/>
            <p:extLst>
              <p:ext uri="{D42A27DB-BD31-4B8C-83A1-F6EECF244321}">
                <p14:modId xmlns:p14="http://schemas.microsoft.com/office/powerpoint/2010/main" val="3968721841"/>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7116405"/>
      </p:ext>
    </p:extLst>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61</TotalTime>
  <Words>431</Words>
  <Application>Microsoft Office PowerPoint</Application>
  <PresentationFormat>Panorámica</PresentationFormat>
  <Paragraphs>42</Paragraphs>
  <Slides>8</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8</vt:i4>
      </vt:variant>
    </vt:vector>
  </HeadingPairs>
  <TitlesOfParts>
    <vt:vector size="13" baseType="lpstr">
      <vt:lpstr>Aptos</vt:lpstr>
      <vt:lpstr>Aptos Display</vt:lpstr>
      <vt:lpstr>Arial</vt:lpstr>
      <vt:lpstr>Calibri</vt:lpstr>
      <vt:lpstr>Office Theme</vt:lpstr>
      <vt:lpstr>SOCIAL TREND ANALYZER</vt:lpstr>
      <vt:lpstr>CONSIGNA GENERAL:</vt:lpstr>
      <vt:lpstr>RESULTADO</vt:lpstr>
      <vt:lpstr>CARACTERÍSTICAS</vt:lpstr>
      <vt:lpstr>Presentación de PowerPoint</vt:lpstr>
      <vt:lpstr>Presentación de PowerPoint</vt:lpstr>
      <vt:lpstr>MEJORAS A FUTURO</vt:lpstr>
      <vt:lpstr>CONCEPTOS IMPORTANTES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edgar karpowicz</dc:creator>
  <cp:lastModifiedBy>edgar karpowicz</cp:lastModifiedBy>
  <cp:revision>5</cp:revision>
  <dcterms:created xsi:type="dcterms:W3CDTF">2025-11-15T21:53:06Z</dcterms:created>
  <dcterms:modified xsi:type="dcterms:W3CDTF">2025-11-15T22:54:24Z</dcterms:modified>
</cp:coreProperties>
</file>