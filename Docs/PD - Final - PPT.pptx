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9C74258B-257B-4EB1-B70C-AE036DE7DE4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A4E6CAC-F5BF-47C5-B916-6EF88A44B92E}">
      <dgm:prSet/>
      <dgm:spPr/>
      <dgm:t>
        <a:bodyPr/>
        <a:lstStyle/>
        <a:p>
          <a:pPr>
            <a:lnSpc>
              <a:spcPct val="100000"/>
            </a:lnSpc>
          </a:pPr>
          <a:r>
            <a:rPr lang="es-AR" b="1" dirty="0"/>
            <a:t>Aplicación de escritorio </a:t>
          </a:r>
          <a:r>
            <a:rPr lang="es-AR" dirty="0"/>
            <a:t>para el </a:t>
          </a:r>
          <a:r>
            <a:rPr lang="es-AR" b="1" dirty="0"/>
            <a:t>análisis</a:t>
          </a:r>
          <a:r>
            <a:rPr lang="es-AR" dirty="0"/>
            <a:t> inteligente de </a:t>
          </a:r>
          <a:r>
            <a:rPr lang="es-AR" b="1" dirty="0"/>
            <a:t>tendencias</a:t>
          </a:r>
          <a:r>
            <a:rPr lang="es-AR" dirty="0"/>
            <a:t> en </a:t>
          </a:r>
          <a:r>
            <a:rPr lang="es-AR" b="1" dirty="0"/>
            <a:t>redes sociales</a:t>
          </a:r>
          <a:r>
            <a:rPr lang="es-AR" dirty="0"/>
            <a:t>. </a:t>
          </a:r>
          <a:endParaRPr lang="en-US" dirty="0"/>
        </a:p>
      </dgm:t>
    </dgm:pt>
    <dgm:pt modelId="{0DB34BEA-204A-4BDB-9B6A-4719A5F35E85}" type="parTrans" cxnId="{E6F4D1C3-EC5F-4DD6-A7FE-485C0268617A}">
      <dgm:prSet/>
      <dgm:spPr/>
      <dgm:t>
        <a:bodyPr/>
        <a:lstStyle/>
        <a:p>
          <a:endParaRPr lang="en-US"/>
        </a:p>
      </dgm:t>
    </dgm:pt>
    <dgm:pt modelId="{E7D1B233-AF44-4747-AF59-FDC524B9071F}" type="sibTrans" cxnId="{E6F4D1C3-EC5F-4DD6-A7FE-485C0268617A}">
      <dgm:prSet/>
      <dgm:spPr/>
      <dgm:t>
        <a:bodyPr/>
        <a:lstStyle/>
        <a:p>
          <a:endParaRPr lang="en-US"/>
        </a:p>
      </dgm:t>
    </dgm:pt>
    <dgm:pt modelId="{9B193D50-AE42-4002-B290-4185C8B5AB64}">
      <dgm:prSet/>
      <dgm:spPr/>
      <dgm:t>
        <a:bodyPr/>
        <a:lstStyle/>
        <a:p>
          <a:pPr>
            <a:lnSpc>
              <a:spcPct val="100000"/>
            </a:lnSpc>
          </a:pPr>
          <a:r>
            <a:rPr lang="es-AR" b="1" dirty="0"/>
            <a:t>Procesa</a:t>
          </a:r>
          <a:r>
            <a:rPr lang="es-AR" dirty="0"/>
            <a:t> </a:t>
          </a:r>
          <a:r>
            <a:rPr lang="es-AR" b="1" dirty="0"/>
            <a:t>datasets</a:t>
          </a:r>
          <a:r>
            <a:rPr lang="es-AR" dirty="0"/>
            <a:t> de publicaciones utilizando </a:t>
          </a:r>
          <a:r>
            <a:rPr lang="es-AR" b="1" dirty="0"/>
            <a:t>técnicas de análisis de datos y machine learning </a:t>
          </a:r>
          <a:r>
            <a:rPr lang="es-AR" dirty="0"/>
            <a:t>para </a:t>
          </a:r>
          <a:r>
            <a:rPr lang="es-AR" b="1" dirty="0"/>
            <a:t>predecir</a:t>
          </a:r>
          <a:r>
            <a:rPr lang="es-AR" dirty="0"/>
            <a:t> la </a:t>
          </a:r>
          <a:r>
            <a:rPr lang="es-AR" b="1" dirty="0"/>
            <a:t>relevancia</a:t>
          </a:r>
          <a:r>
            <a:rPr lang="es-AR" dirty="0"/>
            <a:t> de contenidos.</a:t>
          </a:r>
          <a:endParaRPr lang="en-US" dirty="0"/>
        </a:p>
      </dgm:t>
    </dgm:pt>
    <dgm:pt modelId="{0C683B3A-F3B6-4763-B13C-5BD77B92DBD5}" type="parTrans" cxnId="{17A03EC9-4B6A-4616-A40F-2EDCB3CB0462}">
      <dgm:prSet/>
      <dgm:spPr/>
      <dgm:t>
        <a:bodyPr/>
        <a:lstStyle/>
        <a:p>
          <a:endParaRPr lang="en-US"/>
        </a:p>
      </dgm:t>
    </dgm:pt>
    <dgm:pt modelId="{A1EBDC91-667B-4DCE-8797-24F15FA15600}" type="sibTrans" cxnId="{17A03EC9-4B6A-4616-A40F-2EDCB3CB0462}">
      <dgm:prSet/>
      <dgm:spPr/>
      <dgm:t>
        <a:bodyPr/>
        <a:lstStyle/>
        <a:p>
          <a:endParaRPr lang="en-US"/>
        </a:p>
      </dgm:t>
    </dgm:pt>
    <dgm:pt modelId="{D68EC524-AEAE-4025-81E7-C999E297F51D}" type="pres">
      <dgm:prSet presAssocID="{9C74258B-257B-4EB1-B70C-AE036DE7DE4B}" presName="root" presStyleCnt="0">
        <dgm:presLayoutVars>
          <dgm:dir/>
          <dgm:resizeHandles val="exact"/>
        </dgm:presLayoutVars>
      </dgm:prSet>
      <dgm:spPr/>
    </dgm:pt>
    <dgm:pt modelId="{2894ADC7-3586-4192-824C-CD247FE14E35}" type="pres">
      <dgm:prSet presAssocID="{FA4E6CAC-F5BF-47C5-B916-6EF88A44B92E}" presName="compNode" presStyleCnt="0"/>
      <dgm:spPr/>
    </dgm:pt>
    <dgm:pt modelId="{D4F663A9-79CF-4BE3-9387-06D59C1D1B85}" type="pres">
      <dgm:prSet presAssocID="{FA4E6CAC-F5BF-47C5-B916-6EF88A44B92E}" presName="bgRect" presStyleLbl="bgShp" presStyleIdx="0" presStyleCnt="2"/>
      <dgm:spPr/>
    </dgm:pt>
    <dgm:pt modelId="{B9975680-9E99-4087-8B52-F8A169868B69}" type="pres">
      <dgm:prSet presAssocID="{FA4E6CAC-F5BF-47C5-B916-6EF88A44B9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ador"/>
        </a:ext>
      </dgm:extLst>
    </dgm:pt>
    <dgm:pt modelId="{D0A8076D-0BDE-4782-89ED-811F181C9E59}" type="pres">
      <dgm:prSet presAssocID="{FA4E6CAC-F5BF-47C5-B916-6EF88A44B92E}" presName="spaceRect" presStyleCnt="0"/>
      <dgm:spPr/>
    </dgm:pt>
    <dgm:pt modelId="{7ED924E1-296C-4BDA-8F9E-358E934036DA}" type="pres">
      <dgm:prSet presAssocID="{FA4E6CAC-F5BF-47C5-B916-6EF88A44B92E}" presName="parTx" presStyleLbl="revTx" presStyleIdx="0" presStyleCnt="2">
        <dgm:presLayoutVars>
          <dgm:chMax val="0"/>
          <dgm:chPref val="0"/>
        </dgm:presLayoutVars>
      </dgm:prSet>
      <dgm:spPr/>
    </dgm:pt>
    <dgm:pt modelId="{610D5178-E9CF-4F18-A9E6-6E9099B8937A}" type="pres">
      <dgm:prSet presAssocID="{E7D1B233-AF44-4747-AF59-FDC524B9071F}" presName="sibTrans" presStyleCnt="0"/>
      <dgm:spPr/>
    </dgm:pt>
    <dgm:pt modelId="{23A31DA1-E040-4F7E-A04C-7890126D6673}" type="pres">
      <dgm:prSet presAssocID="{9B193D50-AE42-4002-B290-4185C8B5AB64}" presName="compNode" presStyleCnt="0"/>
      <dgm:spPr/>
    </dgm:pt>
    <dgm:pt modelId="{7F5B8292-22A8-4217-B0A3-F2DC7B39BBFB}" type="pres">
      <dgm:prSet presAssocID="{9B193D50-AE42-4002-B290-4185C8B5AB64}" presName="bgRect" presStyleLbl="bgShp" presStyleIdx="1" presStyleCnt="2"/>
      <dgm:spPr/>
    </dgm:pt>
    <dgm:pt modelId="{02EA41CC-CAA0-45BF-BC33-EE1D8FA43625}" type="pres">
      <dgm:prSet presAssocID="{9B193D50-AE42-4002-B290-4185C8B5AB6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stadísticas"/>
        </a:ext>
      </dgm:extLst>
    </dgm:pt>
    <dgm:pt modelId="{B42393C3-A2E6-41E0-84D5-CC2601107B1C}" type="pres">
      <dgm:prSet presAssocID="{9B193D50-AE42-4002-B290-4185C8B5AB64}" presName="spaceRect" presStyleCnt="0"/>
      <dgm:spPr/>
    </dgm:pt>
    <dgm:pt modelId="{317EAB21-26F8-4BAC-AD0F-967801902842}" type="pres">
      <dgm:prSet presAssocID="{9B193D50-AE42-4002-B290-4185C8B5AB64}" presName="parTx" presStyleLbl="revTx" presStyleIdx="1" presStyleCnt="2">
        <dgm:presLayoutVars>
          <dgm:chMax val="0"/>
          <dgm:chPref val="0"/>
        </dgm:presLayoutVars>
      </dgm:prSet>
      <dgm:spPr/>
    </dgm:pt>
  </dgm:ptLst>
  <dgm:cxnLst>
    <dgm:cxn modelId="{D9CEA208-E398-4FD1-BC46-F9E19F692F87}" type="presOf" srcId="{9C74258B-257B-4EB1-B70C-AE036DE7DE4B}" destId="{D68EC524-AEAE-4025-81E7-C999E297F51D}" srcOrd="0" destOrd="0" presId="urn:microsoft.com/office/officeart/2018/2/layout/IconVerticalSolidList"/>
    <dgm:cxn modelId="{4ABA930E-D74A-43AF-9F95-C33DB3CD243E}" type="presOf" srcId="{9B193D50-AE42-4002-B290-4185C8B5AB64}" destId="{317EAB21-26F8-4BAC-AD0F-967801902842}" srcOrd="0" destOrd="0" presId="urn:microsoft.com/office/officeart/2018/2/layout/IconVerticalSolidList"/>
    <dgm:cxn modelId="{D370EBB1-3AF0-4CA9-9B6F-7594A334E012}" type="presOf" srcId="{FA4E6CAC-F5BF-47C5-B916-6EF88A44B92E}" destId="{7ED924E1-296C-4BDA-8F9E-358E934036DA}" srcOrd="0" destOrd="0" presId="urn:microsoft.com/office/officeart/2018/2/layout/IconVerticalSolidList"/>
    <dgm:cxn modelId="{E6F4D1C3-EC5F-4DD6-A7FE-485C0268617A}" srcId="{9C74258B-257B-4EB1-B70C-AE036DE7DE4B}" destId="{FA4E6CAC-F5BF-47C5-B916-6EF88A44B92E}" srcOrd="0" destOrd="0" parTransId="{0DB34BEA-204A-4BDB-9B6A-4719A5F35E85}" sibTransId="{E7D1B233-AF44-4747-AF59-FDC524B9071F}"/>
    <dgm:cxn modelId="{17A03EC9-4B6A-4616-A40F-2EDCB3CB0462}" srcId="{9C74258B-257B-4EB1-B70C-AE036DE7DE4B}" destId="{9B193D50-AE42-4002-B290-4185C8B5AB64}" srcOrd="1" destOrd="0" parTransId="{0C683B3A-F3B6-4763-B13C-5BD77B92DBD5}" sibTransId="{A1EBDC91-667B-4DCE-8797-24F15FA15600}"/>
    <dgm:cxn modelId="{6EF22224-846A-4E1F-B458-D27518026CF8}" type="presParOf" srcId="{D68EC524-AEAE-4025-81E7-C999E297F51D}" destId="{2894ADC7-3586-4192-824C-CD247FE14E35}" srcOrd="0" destOrd="0" presId="urn:microsoft.com/office/officeart/2018/2/layout/IconVerticalSolidList"/>
    <dgm:cxn modelId="{55710259-9C4C-4B6B-B5DC-EF140A881AFA}" type="presParOf" srcId="{2894ADC7-3586-4192-824C-CD247FE14E35}" destId="{D4F663A9-79CF-4BE3-9387-06D59C1D1B85}" srcOrd="0" destOrd="0" presId="urn:microsoft.com/office/officeart/2018/2/layout/IconVerticalSolidList"/>
    <dgm:cxn modelId="{D2ECFD73-E94F-4768-94DE-45E900BEEC7B}" type="presParOf" srcId="{2894ADC7-3586-4192-824C-CD247FE14E35}" destId="{B9975680-9E99-4087-8B52-F8A169868B69}" srcOrd="1" destOrd="0" presId="urn:microsoft.com/office/officeart/2018/2/layout/IconVerticalSolidList"/>
    <dgm:cxn modelId="{8528C5A2-0D49-4500-8393-4C34A8DACCB7}" type="presParOf" srcId="{2894ADC7-3586-4192-824C-CD247FE14E35}" destId="{D0A8076D-0BDE-4782-89ED-811F181C9E59}" srcOrd="2" destOrd="0" presId="urn:microsoft.com/office/officeart/2018/2/layout/IconVerticalSolidList"/>
    <dgm:cxn modelId="{B7C32E6F-D34B-482F-8F96-ABB66584A782}" type="presParOf" srcId="{2894ADC7-3586-4192-824C-CD247FE14E35}" destId="{7ED924E1-296C-4BDA-8F9E-358E934036DA}" srcOrd="3" destOrd="0" presId="urn:microsoft.com/office/officeart/2018/2/layout/IconVerticalSolidList"/>
    <dgm:cxn modelId="{2F85B6E7-1B0A-4045-A78F-4234ACB422E4}" type="presParOf" srcId="{D68EC524-AEAE-4025-81E7-C999E297F51D}" destId="{610D5178-E9CF-4F18-A9E6-6E9099B8937A}" srcOrd="1" destOrd="0" presId="urn:microsoft.com/office/officeart/2018/2/layout/IconVerticalSolidList"/>
    <dgm:cxn modelId="{C6C98A95-153B-4FC8-9410-E8CA54E75762}" type="presParOf" srcId="{D68EC524-AEAE-4025-81E7-C999E297F51D}" destId="{23A31DA1-E040-4F7E-A04C-7890126D6673}" srcOrd="2" destOrd="0" presId="urn:microsoft.com/office/officeart/2018/2/layout/IconVerticalSolidList"/>
    <dgm:cxn modelId="{47630141-B7AB-4779-B1A2-A18015176779}" type="presParOf" srcId="{23A31DA1-E040-4F7E-A04C-7890126D6673}" destId="{7F5B8292-22A8-4217-B0A3-F2DC7B39BBFB}" srcOrd="0" destOrd="0" presId="urn:microsoft.com/office/officeart/2018/2/layout/IconVerticalSolidList"/>
    <dgm:cxn modelId="{1456D4DA-FCB4-42A4-A370-66583F8A2C55}" type="presParOf" srcId="{23A31DA1-E040-4F7E-A04C-7890126D6673}" destId="{02EA41CC-CAA0-45BF-BC33-EE1D8FA43625}" srcOrd="1" destOrd="0" presId="urn:microsoft.com/office/officeart/2018/2/layout/IconVerticalSolidList"/>
    <dgm:cxn modelId="{09DE5B55-CD07-4BCC-BCD4-60563CB98684}" type="presParOf" srcId="{23A31DA1-E040-4F7E-A04C-7890126D6673}" destId="{B42393C3-A2E6-41E0-84D5-CC2601107B1C}" srcOrd="2" destOrd="0" presId="urn:microsoft.com/office/officeart/2018/2/layout/IconVerticalSolidList"/>
    <dgm:cxn modelId="{0DE8B283-57CA-458D-921B-E44C8A469B82}" type="presParOf" srcId="{23A31DA1-E040-4F7E-A04C-7890126D6673}" destId="{317EAB21-26F8-4BAC-AD0F-9678019028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EBFEBB-EC20-471F-9234-EE9F32BC84A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CF2DBB8-9142-4FF8-B4BC-0FFA5E3153E2}">
      <dgm:prSet/>
      <dgm:spPr/>
      <dgm:t>
        <a:bodyPr/>
        <a:lstStyle/>
        <a:p>
          <a:r>
            <a:rPr lang="es-AR" b="1" dirty="0"/>
            <a:t>DeepLearning: </a:t>
          </a:r>
          <a:r>
            <a:rPr lang="es-AR" dirty="0"/>
            <a:t>reemplazar TF-IDF con embeddings (Word2Vec)</a:t>
          </a:r>
          <a:endParaRPr lang="en-US" dirty="0"/>
        </a:p>
      </dgm:t>
    </dgm:pt>
    <dgm:pt modelId="{8F0C9B98-D391-4766-BBF1-56DC5B5AD245}" type="parTrans" cxnId="{9C2F30AE-89C4-4A65-98EF-6DAD0882BB00}">
      <dgm:prSet/>
      <dgm:spPr/>
      <dgm:t>
        <a:bodyPr/>
        <a:lstStyle/>
        <a:p>
          <a:endParaRPr lang="en-US"/>
        </a:p>
      </dgm:t>
    </dgm:pt>
    <dgm:pt modelId="{69897FE9-9FCD-4946-9E44-80B29587945C}" type="sibTrans" cxnId="{9C2F30AE-89C4-4A65-98EF-6DAD0882BB00}">
      <dgm:prSet/>
      <dgm:spPr/>
      <dgm:t>
        <a:bodyPr/>
        <a:lstStyle/>
        <a:p>
          <a:endParaRPr lang="en-US"/>
        </a:p>
      </dgm:t>
    </dgm:pt>
    <dgm:pt modelId="{14B63F20-044E-41D9-95DF-903CE48D668D}">
      <dgm:prSet/>
      <dgm:spPr/>
      <dgm:t>
        <a:bodyPr/>
        <a:lstStyle/>
        <a:p>
          <a:r>
            <a:rPr lang="es-AR" b="1" dirty="0"/>
            <a:t>Predicciones:</a:t>
          </a:r>
          <a:r>
            <a:rPr lang="es-AR" dirty="0"/>
            <a:t> predecir trends futuras (ARIMA, Prophet)</a:t>
          </a:r>
          <a:endParaRPr lang="en-US" dirty="0"/>
        </a:p>
      </dgm:t>
    </dgm:pt>
    <dgm:pt modelId="{23DBE4A8-6921-4938-A373-6056D90F2DCE}" type="parTrans" cxnId="{378CB4F2-E199-4D68-BCB5-8D3479D26193}">
      <dgm:prSet/>
      <dgm:spPr/>
      <dgm:t>
        <a:bodyPr/>
        <a:lstStyle/>
        <a:p>
          <a:endParaRPr lang="en-US"/>
        </a:p>
      </dgm:t>
    </dgm:pt>
    <dgm:pt modelId="{E75C7570-3749-475B-9777-2E8DCB3C2C11}" type="sibTrans" cxnId="{378CB4F2-E199-4D68-BCB5-8D3479D26193}">
      <dgm:prSet/>
      <dgm:spPr/>
      <dgm:t>
        <a:bodyPr/>
        <a:lstStyle/>
        <a:p>
          <a:endParaRPr lang="en-US"/>
        </a:p>
      </dgm:t>
    </dgm:pt>
    <dgm:pt modelId="{0851EBBE-122A-4A9F-B06C-2860B22A736E}">
      <dgm:prSet/>
      <dgm:spPr/>
      <dgm:t>
        <a:bodyPr/>
        <a:lstStyle/>
        <a:p>
          <a:r>
            <a:rPr lang="es-AR" b="1" dirty="0"/>
            <a:t>Colaboración: </a:t>
          </a:r>
          <a:r>
            <a:rPr lang="es-AR" dirty="0"/>
            <a:t>soporte multiusuario con Database. Compartir modelos e insights.</a:t>
          </a:r>
          <a:endParaRPr lang="en-US" dirty="0"/>
        </a:p>
      </dgm:t>
    </dgm:pt>
    <dgm:pt modelId="{36EEAD9D-8576-4670-8C4E-3E088709CA92}" type="parTrans" cxnId="{416BD284-F816-4BD5-9F8C-9D0BA6F031F6}">
      <dgm:prSet/>
      <dgm:spPr/>
      <dgm:t>
        <a:bodyPr/>
        <a:lstStyle/>
        <a:p>
          <a:endParaRPr lang="en-US"/>
        </a:p>
      </dgm:t>
    </dgm:pt>
    <dgm:pt modelId="{81762750-0B98-4AD1-B303-D89882F0794C}" type="sibTrans" cxnId="{416BD284-F816-4BD5-9F8C-9D0BA6F031F6}">
      <dgm:prSet/>
      <dgm:spPr/>
      <dgm:t>
        <a:bodyPr/>
        <a:lstStyle/>
        <a:p>
          <a:endParaRPr lang="en-US"/>
        </a:p>
      </dgm:t>
    </dgm:pt>
    <dgm:pt modelId="{CEB6FBBE-166B-43C9-9BC2-B6F900BE42F2}">
      <dgm:prSet/>
      <dgm:spPr/>
      <dgm:t>
        <a:bodyPr/>
        <a:lstStyle/>
        <a:p>
          <a:r>
            <a:rPr lang="es-AR" b="1" dirty="0"/>
            <a:t>Datos en Tiempo Real:</a:t>
          </a:r>
          <a:r>
            <a:rPr lang="es-AR" dirty="0"/>
            <a:t> conectarse a una API de Twitter / X para obtener datos en vivo.</a:t>
          </a:r>
          <a:endParaRPr lang="en-US" dirty="0"/>
        </a:p>
      </dgm:t>
    </dgm:pt>
    <dgm:pt modelId="{5AA2B813-10BA-4C02-8970-852FEEF7E070}" type="parTrans" cxnId="{B4A1E69D-AB88-43A2-836A-D6D974A9B19B}">
      <dgm:prSet/>
      <dgm:spPr/>
      <dgm:t>
        <a:bodyPr/>
        <a:lstStyle/>
        <a:p>
          <a:endParaRPr lang="en-US"/>
        </a:p>
      </dgm:t>
    </dgm:pt>
    <dgm:pt modelId="{4577A4FD-D697-425C-9DFE-A113CF1DDFB0}" type="sibTrans" cxnId="{B4A1E69D-AB88-43A2-836A-D6D974A9B19B}">
      <dgm:prSet/>
      <dgm:spPr/>
      <dgm:t>
        <a:bodyPr/>
        <a:lstStyle/>
        <a:p>
          <a:endParaRPr lang="en-US"/>
        </a:p>
      </dgm:t>
    </dgm:pt>
    <dgm:pt modelId="{C725BEFF-0D39-4A51-A757-37A2594FE678}">
      <dgm:prSet/>
      <dgm:spPr/>
      <dgm:t>
        <a:bodyPr/>
        <a:lstStyle/>
        <a:p>
          <a:r>
            <a:rPr lang="es-AR" b="1" dirty="0"/>
            <a:t>Mejoras UI y Modo WEB:</a:t>
          </a:r>
          <a:r>
            <a:rPr lang="es-AR" dirty="0"/>
            <a:t> soportar múltiples lenguajes, cambiar entre modo dark y light, generar interfaz WEB.</a:t>
          </a:r>
          <a:endParaRPr lang="en-US" dirty="0"/>
        </a:p>
      </dgm:t>
    </dgm:pt>
    <dgm:pt modelId="{22A9B2CF-3735-44AB-8DB7-282E076138F0}" type="parTrans" cxnId="{BB78B42F-C8D7-44AE-8655-E77B313AC16E}">
      <dgm:prSet/>
      <dgm:spPr/>
      <dgm:t>
        <a:bodyPr/>
        <a:lstStyle/>
        <a:p>
          <a:endParaRPr lang="en-US"/>
        </a:p>
      </dgm:t>
    </dgm:pt>
    <dgm:pt modelId="{D474992F-7773-4846-A7A8-08533AB9A597}" type="sibTrans" cxnId="{BB78B42F-C8D7-44AE-8655-E77B313AC16E}">
      <dgm:prSet/>
      <dgm:spPr/>
      <dgm:t>
        <a:bodyPr/>
        <a:lstStyle/>
        <a:p>
          <a:endParaRPr lang="en-US"/>
        </a:p>
      </dgm:t>
    </dgm:pt>
    <dgm:pt modelId="{530AC125-23B6-44AB-AD65-ACE24F421F40}" type="pres">
      <dgm:prSet presAssocID="{13EBFEBB-EC20-471F-9234-EE9F32BC84A2}" presName="vert0" presStyleCnt="0">
        <dgm:presLayoutVars>
          <dgm:dir/>
          <dgm:animOne val="branch"/>
          <dgm:animLvl val="lvl"/>
        </dgm:presLayoutVars>
      </dgm:prSet>
      <dgm:spPr/>
    </dgm:pt>
    <dgm:pt modelId="{7CD9E924-AE34-4659-A30C-F612D7A7CB22}" type="pres">
      <dgm:prSet presAssocID="{9CF2DBB8-9142-4FF8-B4BC-0FFA5E3153E2}" presName="thickLine" presStyleLbl="alignNode1" presStyleIdx="0" presStyleCnt="5"/>
      <dgm:spPr/>
    </dgm:pt>
    <dgm:pt modelId="{DC4E4E76-11D3-4D96-B0AC-70E371BD83C2}" type="pres">
      <dgm:prSet presAssocID="{9CF2DBB8-9142-4FF8-B4BC-0FFA5E3153E2}" presName="horz1" presStyleCnt="0"/>
      <dgm:spPr/>
    </dgm:pt>
    <dgm:pt modelId="{ACFCFE0D-D9D8-4821-9D25-34F918045AC4}" type="pres">
      <dgm:prSet presAssocID="{9CF2DBB8-9142-4FF8-B4BC-0FFA5E3153E2}" presName="tx1" presStyleLbl="revTx" presStyleIdx="0" presStyleCnt="5"/>
      <dgm:spPr/>
    </dgm:pt>
    <dgm:pt modelId="{4D91B3F8-3958-43C1-9D2D-2A822F66643F}" type="pres">
      <dgm:prSet presAssocID="{9CF2DBB8-9142-4FF8-B4BC-0FFA5E3153E2}" presName="vert1" presStyleCnt="0"/>
      <dgm:spPr/>
    </dgm:pt>
    <dgm:pt modelId="{A46F5ECF-27D2-4E5A-AADA-79BCAD20C6BB}" type="pres">
      <dgm:prSet presAssocID="{14B63F20-044E-41D9-95DF-903CE48D668D}" presName="thickLine" presStyleLbl="alignNode1" presStyleIdx="1" presStyleCnt="5"/>
      <dgm:spPr/>
    </dgm:pt>
    <dgm:pt modelId="{069F9F25-B90C-47AB-B85C-3C0E64A542E2}" type="pres">
      <dgm:prSet presAssocID="{14B63F20-044E-41D9-95DF-903CE48D668D}" presName="horz1" presStyleCnt="0"/>
      <dgm:spPr/>
    </dgm:pt>
    <dgm:pt modelId="{AAE3469A-C31E-45D9-861C-BA4BB514AECA}" type="pres">
      <dgm:prSet presAssocID="{14B63F20-044E-41D9-95DF-903CE48D668D}" presName="tx1" presStyleLbl="revTx" presStyleIdx="1" presStyleCnt="5"/>
      <dgm:spPr/>
    </dgm:pt>
    <dgm:pt modelId="{C07C903A-3CB9-4E18-ADCA-0FC277BDF28F}" type="pres">
      <dgm:prSet presAssocID="{14B63F20-044E-41D9-95DF-903CE48D668D}" presName="vert1" presStyleCnt="0"/>
      <dgm:spPr/>
    </dgm:pt>
    <dgm:pt modelId="{73868676-6112-4753-B68E-BFE9DF7CF5BE}" type="pres">
      <dgm:prSet presAssocID="{0851EBBE-122A-4A9F-B06C-2860B22A736E}" presName="thickLine" presStyleLbl="alignNode1" presStyleIdx="2" presStyleCnt="5"/>
      <dgm:spPr/>
    </dgm:pt>
    <dgm:pt modelId="{2C344B7B-87E7-482F-9ECD-68A94B173E80}" type="pres">
      <dgm:prSet presAssocID="{0851EBBE-122A-4A9F-B06C-2860B22A736E}" presName="horz1" presStyleCnt="0"/>
      <dgm:spPr/>
    </dgm:pt>
    <dgm:pt modelId="{CB4EBD77-75A6-4D49-A72B-50D48B8B6007}" type="pres">
      <dgm:prSet presAssocID="{0851EBBE-122A-4A9F-B06C-2860B22A736E}" presName="tx1" presStyleLbl="revTx" presStyleIdx="2" presStyleCnt="5"/>
      <dgm:spPr/>
    </dgm:pt>
    <dgm:pt modelId="{9875B6D9-695A-413A-8A40-5BCE1EFCCD7C}" type="pres">
      <dgm:prSet presAssocID="{0851EBBE-122A-4A9F-B06C-2860B22A736E}" presName="vert1" presStyleCnt="0"/>
      <dgm:spPr/>
    </dgm:pt>
    <dgm:pt modelId="{253172CD-D6D7-45E4-A4F2-53AADEA6C019}" type="pres">
      <dgm:prSet presAssocID="{CEB6FBBE-166B-43C9-9BC2-B6F900BE42F2}" presName="thickLine" presStyleLbl="alignNode1" presStyleIdx="3" presStyleCnt="5"/>
      <dgm:spPr/>
    </dgm:pt>
    <dgm:pt modelId="{CDC6EDFE-4EE0-4D1B-AFA3-297845668BFB}" type="pres">
      <dgm:prSet presAssocID="{CEB6FBBE-166B-43C9-9BC2-B6F900BE42F2}" presName="horz1" presStyleCnt="0"/>
      <dgm:spPr/>
    </dgm:pt>
    <dgm:pt modelId="{F7B2B5A1-E5F5-4E5A-8FBF-6CB2726F749C}" type="pres">
      <dgm:prSet presAssocID="{CEB6FBBE-166B-43C9-9BC2-B6F900BE42F2}" presName="tx1" presStyleLbl="revTx" presStyleIdx="3" presStyleCnt="5"/>
      <dgm:spPr/>
    </dgm:pt>
    <dgm:pt modelId="{61AF59D8-E1CB-4AFD-B6E2-43F170B3E60B}" type="pres">
      <dgm:prSet presAssocID="{CEB6FBBE-166B-43C9-9BC2-B6F900BE42F2}" presName="vert1" presStyleCnt="0"/>
      <dgm:spPr/>
    </dgm:pt>
    <dgm:pt modelId="{1C145162-1603-4436-B796-9202779BD8BA}" type="pres">
      <dgm:prSet presAssocID="{C725BEFF-0D39-4A51-A757-37A2594FE678}" presName="thickLine" presStyleLbl="alignNode1" presStyleIdx="4" presStyleCnt="5"/>
      <dgm:spPr/>
    </dgm:pt>
    <dgm:pt modelId="{3C47A1DC-1846-4CDE-AF26-9C9676DA3FD6}" type="pres">
      <dgm:prSet presAssocID="{C725BEFF-0D39-4A51-A757-37A2594FE678}" presName="horz1" presStyleCnt="0"/>
      <dgm:spPr/>
    </dgm:pt>
    <dgm:pt modelId="{84DA3720-1B47-42FC-886B-5B8E890D1801}" type="pres">
      <dgm:prSet presAssocID="{C725BEFF-0D39-4A51-A757-37A2594FE678}" presName="tx1" presStyleLbl="revTx" presStyleIdx="4" presStyleCnt="5"/>
      <dgm:spPr/>
    </dgm:pt>
    <dgm:pt modelId="{4B6316FB-4949-452B-BEAA-E7E4323D5E06}" type="pres">
      <dgm:prSet presAssocID="{C725BEFF-0D39-4A51-A757-37A2594FE678}" presName="vert1" presStyleCnt="0"/>
      <dgm:spPr/>
    </dgm:pt>
  </dgm:ptLst>
  <dgm:cxnLst>
    <dgm:cxn modelId="{0AED9D09-3A6F-4C41-A004-97F2E262AE7C}" type="presOf" srcId="{C725BEFF-0D39-4A51-A757-37A2594FE678}" destId="{84DA3720-1B47-42FC-886B-5B8E890D1801}" srcOrd="0" destOrd="0" presId="urn:microsoft.com/office/officeart/2008/layout/LinedList"/>
    <dgm:cxn modelId="{2B1E910D-0FAA-4849-8974-BE9B4CF90D8F}" type="presOf" srcId="{0851EBBE-122A-4A9F-B06C-2860B22A736E}" destId="{CB4EBD77-75A6-4D49-A72B-50D48B8B6007}" srcOrd="0" destOrd="0" presId="urn:microsoft.com/office/officeart/2008/layout/LinedList"/>
    <dgm:cxn modelId="{BB78B42F-C8D7-44AE-8655-E77B313AC16E}" srcId="{13EBFEBB-EC20-471F-9234-EE9F32BC84A2}" destId="{C725BEFF-0D39-4A51-A757-37A2594FE678}" srcOrd="4" destOrd="0" parTransId="{22A9B2CF-3735-44AB-8DB7-282E076138F0}" sibTransId="{D474992F-7773-4846-A7A8-08533AB9A597}"/>
    <dgm:cxn modelId="{7E5E7A64-1E78-40FC-A0CD-1606AC5A3E86}" type="presOf" srcId="{9CF2DBB8-9142-4FF8-B4BC-0FFA5E3153E2}" destId="{ACFCFE0D-D9D8-4821-9D25-34F918045AC4}" srcOrd="0" destOrd="0" presId="urn:microsoft.com/office/officeart/2008/layout/LinedList"/>
    <dgm:cxn modelId="{416BD284-F816-4BD5-9F8C-9D0BA6F031F6}" srcId="{13EBFEBB-EC20-471F-9234-EE9F32BC84A2}" destId="{0851EBBE-122A-4A9F-B06C-2860B22A736E}" srcOrd="2" destOrd="0" parTransId="{36EEAD9D-8576-4670-8C4E-3E088709CA92}" sibTransId="{81762750-0B98-4AD1-B303-D89882F0794C}"/>
    <dgm:cxn modelId="{B4A1E69D-AB88-43A2-836A-D6D974A9B19B}" srcId="{13EBFEBB-EC20-471F-9234-EE9F32BC84A2}" destId="{CEB6FBBE-166B-43C9-9BC2-B6F900BE42F2}" srcOrd="3" destOrd="0" parTransId="{5AA2B813-10BA-4C02-8970-852FEEF7E070}" sibTransId="{4577A4FD-D697-425C-9DFE-A113CF1DDFB0}"/>
    <dgm:cxn modelId="{9C2F30AE-89C4-4A65-98EF-6DAD0882BB00}" srcId="{13EBFEBB-EC20-471F-9234-EE9F32BC84A2}" destId="{9CF2DBB8-9142-4FF8-B4BC-0FFA5E3153E2}" srcOrd="0" destOrd="0" parTransId="{8F0C9B98-D391-4766-BBF1-56DC5B5AD245}" sibTransId="{69897FE9-9FCD-4946-9E44-80B29587945C}"/>
    <dgm:cxn modelId="{1DA8E3B1-3CD1-4B99-8EB5-14279C222D9B}" type="presOf" srcId="{13EBFEBB-EC20-471F-9234-EE9F32BC84A2}" destId="{530AC125-23B6-44AB-AD65-ACE24F421F40}" srcOrd="0" destOrd="0" presId="urn:microsoft.com/office/officeart/2008/layout/LinedList"/>
    <dgm:cxn modelId="{68210AEF-FECE-438F-810F-60F804586AE4}" type="presOf" srcId="{14B63F20-044E-41D9-95DF-903CE48D668D}" destId="{AAE3469A-C31E-45D9-861C-BA4BB514AECA}" srcOrd="0" destOrd="0" presId="urn:microsoft.com/office/officeart/2008/layout/LinedList"/>
    <dgm:cxn modelId="{378CB4F2-E199-4D68-BCB5-8D3479D26193}" srcId="{13EBFEBB-EC20-471F-9234-EE9F32BC84A2}" destId="{14B63F20-044E-41D9-95DF-903CE48D668D}" srcOrd="1" destOrd="0" parTransId="{23DBE4A8-6921-4938-A373-6056D90F2DCE}" sibTransId="{E75C7570-3749-475B-9777-2E8DCB3C2C11}"/>
    <dgm:cxn modelId="{3F1A88FF-0122-4D17-BC91-AFFB34328661}" type="presOf" srcId="{CEB6FBBE-166B-43C9-9BC2-B6F900BE42F2}" destId="{F7B2B5A1-E5F5-4E5A-8FBF-6CB2726F749C}" srcOrd="0" destOrd="0" presId="urn:microsoft.com/office/officeart/2008/layout/LinedList"/>
    <dgm:cxn modelId="{58C8A98C-EF2C-412B-9A52-B4D0D0347B59}" type="presParOf" srcId="{530AC125-23B6-44AB-AD65-ACE24F421F40}" destId="{7CD9E924-AE34-4659-A30C-F612D7A7CB22}" srcOrd="0" destOrd="0" presId="urn:microsoft.com/office/officeart/2008/layout/LinedList"/>
    <dgm:cxn modelId="{7F2FF5E0-BD99-4BE1-9DA4-76F97400D7E5}" type="presParOf" srcId="{530AC125-23B6-44AB-AD65-ACE24F421F40}" destId="{DC4E4E76-11D3-4D96-B0AC-70E371BD83C2}" srcOrd="1" destOrd="0" presId="urn:microsoft.com/office/officeart/2008/layout/LinedList"/>
    <dgm:cxn modelId="{DFEC4AAE-0646-4DAE-A513-54A9815B4F66}" type="presParOf" srcId="{DC4E4E76-11D3-4D96-B0AC-70E371BD83C2}" destId="{ACFCFE0D-D9D8-4821-9D25-34F918045AC4}" srcOrd="0" destOrd="0" presId="urn:microsoft.com/office/officeart/2008/layout/LinedList"/>
    <dgm:cxn modelId="{4F9EFB57-D706-48C5-875C-D763D9160953}" type="presParOf" srcId="{DC4E4E76-11D3-4D96-B0AC-70E371BD83C2}" destId="{4D91B3F8-3958-43C1-9D2D-2A822F66643F}" srcOrd="1" destOrd="0" presId="urn:microsoft.com/office/officeart/2008/layout/LinedList"/>
    <dgm:cxn modelId="{2EEEF6ED-51C2-432E-BB73-6D6E21F40FFA}" type="presParOf" srcId="{530AC125-23B6-44AB-AD65-ACE24F421F40}" destId="{A46F5ECF-27D2-4E5A-AADA-79BCAD20C6BB}" srcOrd="2" destOrd="0" presId="urn:microsoft.com/office/officeart/2008/layout/LinedList"/>
    <dgm:cxn modelId="{81D28D3D-27F4-4993-8C5B-F765D242497B}" type="presParOf" srcId="{530AC125-23B6-44AB-AD65-ACE24F421F40}" destId="{069F9F25-B90C-47AB-B85C-3C0E64A542E2}" srcOrd="3" destOrd="0" presId="urn:microsoft.com/office/officeart/2008/layout/LinedList"/>
    <dgm:cxn modelId="{DE65EE47-E24B-4113-91EA-96E36C7657BA}" type="presParOf" srcId="{069F9F25-B90C-47AB-B85C-3C0E64A542E2}" destId="{AAE3469A-C31E-45D9-861C-BA4BB514AECA}" srcOrd="0" destOrd="0" presId="urn:microsoft.com/office/officeart/2008/layout/LinedList"/>
    <dgm:cxn modelId="{B1638307-7A76-4485-B6C7-47D92F853597}" type="presParOf" srcId="{069F9F25-B90C-47AB-B85C-3C0E64A542E2}" destId="{C07C903A-3CB9-4E18-ADCA-0FC277BDF28F}" srcOrd="1" destOrd="0" presId="urn:microsoft.com/office/officeart/2008/layout/LinedList"/>
    <dgm:cxn modelId="{06575B8B-6EC0-4DE7-A338-D2163CA276D9}" type="presParOf" srcId="{530AC125-23B6-44AB-AD65-ACE24F421F40}" destId="{73868676-6112-4753-B68E-BFE9DF7CF5BE}" srcOrd="4" destOrd="0" presId="urn:microsoft.com/office/officeart/2008/layout/LinedList"/>
    <dgm:cxn modelId="{80DA3E90-D617-45DC-BEF6-DF483E272330}" type="presParOf" srcId="{530AC125-23B6-44AB-AD65-ACE24F421F40}" destId="{2C344B7B-87E7-482F-9ECD-68A94B173E80}" srcOrd="5" destOrd="0" presId="urn:microsoft.com/office/officeart/2008/layout/LinedList"/>
    <dgm:cxn modelId="{39B54CD4-B37D-43CB-BCFC-162CC867FA7C}" type="presParOf" srcId="{2C344B7B-87E7-482F-9ECD-68A94B173E80}" destId="{CB4EBD77-75A6-4D49-A72B-50D48B8B6007}" srcOrd="0" destOrd="0" presId="urn:microsoft.com/office/officeart/2008/layout/LinedList"/>
    <dgm:cxn modelId="{1EE7724F-319D-4D43-82DE-67A502947C75}" type="presParOf" srcId="{2C344B7B-87E7-482F-9ECD-68A94B173E80}" destId="{9875B6D9-695A-413A-8A40-5BCE1EFCCD7C}" srcOrd="1" destOrd="0" presId="urn:microsoft.com/office/officeart/2008/layout/LinedList"/>
    <dgm:cxn modelId="{D055A228-D61A-463B-B9DD-BA3BB99807C1}" type="presParOf" srcId="{530AC125-23B6-44AB-AD65-ACE24F421F40}" destId="{253172CD-D6D7-45E4-A4F2-53AADEA6C019}" srcOrd="6" destOrd="0" presId="urn:microsoft.com/office/officeart/2008/layout/LinedList"/>
    <dgm:cxn modelId="{FFB7DFFE-B3A8-41F3-B35F-0094F51971E4}" type="presParOf" srcId="{530AC125-23B6-44AB-AD65-ACE24F421F40}" destId="{CDC6EDFE-4EE0-4D1B-AFA3-297845668BFB}" srcOrd="7" destOrd="0" presId="urn:microsoft.com/office/officeart/2008/layout/LinedList"/>
    <dgm:cxn modelId="{09DFEDFF-DF63-48C9-8B34-7E19A2C05744}" type="presParOf" srcId="{CDC6EDFE-4EE0-4D1B-AFA3-297845668BFB}" destId="{F7B2B5A1-E5F5-4E5A-8FBF-6CB2726F749C}" srcOrd="0" destOrd="0" presId="urn:microsoft.com/office/officeart/2008/layout/LinedList"/>
    <dgm:cxn modelId="{A1393CE6-1F38-45BE-B280-782CD80F47B2}" type="presParOf" srcId="{CDC6EDFE-4EE0-4D1B-AFA3-297845668BFB}" destId="{61AF59D8-E1CB-4AFD-B6E2-43F170B3E60B}" srcOrd="1" destOrd="0" presId="urn:microsoft.com/office/officeart/2008/layout/LinedList"/>
    <dgm:cxn modelId="{328CC145-F0C3-4D92-A113-B3FE8EF392D3}" type="presParOf" srcId="{530AC125-23B6-44AB-AD65-ACE24F421F40}" destId="{1C145162-1603-4436-B796-9202779BD8BA}" srcOrd="8" destOrd="0" presId="urn:microsoft.com/office/officeart/2008/layout/LinedList"/>
    <dgm:cxn modelId="{83281323-9A52-41C2-93EE-BD65F9EEBEA5}" type="presParOf" srcId="{530AC125-23B6-44AB-AD65-ACE24F421F40}" destId="{3C47A1DC-1846-4CDE-AF26-9C9676DA3FD6}" srcOrd="9" destOrd="0" presId="urn:microsoft.com/office/officeart/2008/layout/LinedList"/>
    <dgm:cxn modelId="{4ACD4C3B-7D07-4352-841F-7C52FE4671DE}" type="presParOf" srcId="{3C47A1DC-1846-4CDE-AF26-9C9676DA3FD6}" destId="{84DA3720-1B47-42FC-886B-5B8E890D1801}" srcOrd="0" destOrd="0" presId="urn:microsoft.com/office/officeart/2008/layout/LinedList"/>
    <dgm:cxn modelId="{CAFA6FF1-49C7-459B-B4F3-15D6D01AB411}" type="presParOf" srcId="{3C47A1DC-1846-4CDE-AF26-9C9676DA3FD6}" destId="{4B6316FB-4949-452B-BEAA-E7E4323D5E0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D6E3D1-655E-4027-9161-A4A36830E48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1959949-B76D-491B-B205-6D6DF6EF0D74}">
      <dgm:prSet/>
      <dgm:spPr/>
      <dgm:t>
        <a:bodyPr/>
        <a:lstStyle/>
        <a:p>
          <a:r>
            <a:rPr lang="es-AR" b="1" dirty="0"/>
            <a:t>Word2Vec</a:t>
          </a:r>
          <a:r>
            <a:rPr lang="es-AR" dirty="0"/>
            <a:t>: técnica de procesamiento de lenguaje natural (NLP), que obtiene representaciones vectoriales de palabras. Los Vectores capturan información de palabras sobre el significado de la palabra basándose en palabras de los alrededores.</a:t>
          </a:r>
          <a:endParaRPr lang="en-US" dirty="0"/>
        </a:p>
      </dgm:t>
    </dgm:pt>
    <dgm:pt modelId="{71A1FA6F-7151-45F3-8427-F8C9FDC3609E}" type="parTrans" cxnId="{C6BC1475-2B3F-4361-97A3-2019865B8A11}">
      <dgm:prSet/>
      <dgm:spPr/>
      <dgm:t>
        <a:bodyPr/>
        <a:lstStyle/>
        <a:p>
          <a:endParaRPr lang="en-US"/>
        </a:p>
      </dgm:t>
    </dgm:pt>
    <dgm:pt modelId="{9C5E24AE-B588-4C89-A608-C0F1A6210827}" type="sibTrans" cxnId="{C6BC1475-2B3F-4361-97A3-2019865B8A11}">
      <dgm:prSet/>
      <dgm:spPr/>
      <dgm:t>
        <a:bodyPr/>
        <a:lstStyle/>
        <a:p>
          <a:endParaRPr lang="en-US"/>
        </a:p>
      </dgm:t>
    </dgm:pt>
    <dgm:pt modelId="{FE61CD11-5313-4C88-8E87-FB86AC652EC2}">
      <dgm:prSet/>
      <dgm:spPr/>
      <dgm:t>
        <a:bodyPr/>
        <a:lstStyle/>
        <a:p>
          <a:r>
            <a:rPr lang="es-AR" b="1" dirty="0"/>
            <a:t>ARIMA</a:t>
          </a:r>
          <a:r>
            <a:rPr lang="es-AR" dirty="0"/>
            <a:t>: Media Móvil Integrada Autorregresiva es un modelo estadístico utilizado para el análisis y la predicción de series temporales. Su objetivo es modelar y pronosticar valores futuros basándose únicamente en los datos pasados de la misma serie.</a:t>
          </a:r>
          <a:endParaRPr lang="en-US" dirty="0"/>
        </a:p>
      </dgm:t>
    </dgm:pt>
    <dgm:pt modelId="{B63C45E1-75E0-4EC2-A58B-9772E7563E28}" type="parTrans" cxnId="{720EC012-4F54-4B69-873D-9E4BC558C9C8}">
      <dgm:prSet/>
      <dgm:spPr/>
      <dgm:t>
        <a:bodyPr/>
        <a:lstStyle/>
        <a:p>
          <a:endParaRPr lang="en-US"/>
        </a:p>
      </dgm:t>
    </dgm:pt>
    <dgm:pt modelId="{F3FF6549-F94E-408A-9CF2-73C80DF82F10}" type="sibTrans" cxnId="{720EC012-4F54-4B69-873D-9E4BC558C9C8}">
      <dgm:prSet/>
      <dgm:spPr/>
      <dgm:t>
        <a:bodyPr/>
        <a:lstStyle/>
        <a:p>
          <a:endParaRPr lang="en-US"/>
        </a:p>
      </dgm:t>
    </dgm:pt>
    <dgm:pt modelId="{D0BD32FC-8F0E-4583-85E6-47701116FC20}">
      <dgm:prSet/>
      <dgm:spPr/>
      <dgm:t>
        <a:bodyPr/>
        <a:lstStyle/>
        <a:p>
          <a:r>
            <a:rPr lang="es-AR" b="1" dirty="0"/>
            <a:t>Prophet</a:t>
          </a:r>
          <a:r>
            <a:rPr lang="es-AR" dirty="0"/>
            <a:t>: herramienta de código abierto de Meta (Facebook) diseñada para hacer predicciones en datos de series temporales de forma sencilla. Funciona descomponiendo los datos en una tendencia, estacionalidad (anual, semanal, diaria) y efectos de días festivos. La predicción se realiza mediante un modelo aditivo, y se proporcionan intervalos de confianza para medir la incertidumbre.</a:t>
          </a:r>
          <a:endParaRPr lang="en-US" dirty="0"/>
        </a:p>
      </dgm:t>
    </dgm:pt>
    <dgm:pt modelId="{5146B080-0B2B-42AA-9D7D-F8BDEA82B607}" type="parTrans" cxnId="{0939D1DE-E9B2-4B8D-AABB-FAF673B2E091}">
      <dgm:prSet/>
      <dgm:spPr/>
      <dgm:t>
        <a:bodyPr/>
        <a:lstStyle/>
        <a:p>
          <a:endParaRPr lang="en-US"/>
        </a:p>
      </dgm:t>
    </dgm:pt>
    <dgm:pt modelId="{5BA2036D-D69F-4956-97C8-75FE8B516B0D}" type="sibTrans" cxnId="{0939D1DE-E9B2-4B8D-AABB-FAF673B2E091}">
      <dgm:prSet/>
      <dgm:spPr/>
      <dgm:t>
        <a:bodyPr/>
        <a:lstStyle/>
        <a:p>
          <a:endParaRPr lang="en-US"/>
        </a:p>
      </dgm:t>
    </dgm:pt>
    <dgm:pt modelId="{AFAF63A8-D779-4DC5-9080-8CBEF44A9756}" type="pres">
      <dgm:prSet presAssocID="{D1D6E3D1-655E-4027-9161-A4A36830E48F}" presName="root" presStyleCnt="0">
        <dgm:presLayoutVars>
          <dgm:dir/>
          <dgm:resizeHandles val="exact"/>
        </dgm:presLayoutVars>
      </dgm:prSet>
      <dgm:spPr/>
    </dgm:pt>
    <dgm:pt modelId="{948A6293-C7E4-4AAA-AA1C-8C1E65EA8061}" type="pres">
      <dgm:prSet presAssocID="{41959949-B76D-491B-B205-6D6DF6EF0D74}" presName="compNode" presStyleCnt="0"/>
      <dgm:spPr/>
    </dgm:pt>
    <dgm:pt modelId="{32775CE7-E59B-4E02-8770-CA06DF2161ED}" type="pres">
      <dgm:prSet presAssocID="{41959949-B76D-491B-B205-6D6DF6EF0D74}" presName="bgRect" presStyleLbl="bgShp" presStyleIdx="0" presStyleCnt="3"/>
      <dgm:spPr/>
    </dgm:pt>
    <dgm:pt modelId="{439CFF89-A2B8-4281-8D01-3796CE5F5BB2}" type="pres">
      <dgm:prSet presAssocID="{41959949-B76D-491B-B205-6D6DF6EF0D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99FBDA5A-0935-4FBE-92EC-DCDC4D1D61A6}" type="pres">
      <dgm:prSet presAssocID="{41959949-B76D-491B-B205-6D6DF6EF0D74}" presName="spaceRect" presStyleCnt="0"/>
      <dgm:spPr/>
    </dgm:pt>
    <dgm:pt modelId="{592E369E-9DEA-4A7C-A7C6-0E0F8CDC2F93}" type="pres">
      <dgm:prSet presAssocID="{41959949-B76D-491B-B205-6D6DF6EF0D74}" presName="parTx" presStyleLbl="revTx" presStyleIdx="0" presStyleCnt="3">
        <dgm:presLayoutVars>
          <dgm:chMax val="0"/>
          <dgm:chPref val="0"/>
        </dgm:presLayoutVars>
      </dgm:prSet>
      <dgm:spPr/>
    </dgm:pt>
    <dgm:pt modelId="{88F17DCE-FF35-4692-9E98-734C8030B59A}" type="pres">
      <dgm:prSet presAssocID="{9C5E24AE-B588-4C89-A608-C0F1A6210827}" presName="sibTrans" presStyleCnt="0"/>
      <dgm:spPr/>
    </dgm:pt>
    <dgm:pt modelId="{E3E7C297-4263-411D-A2CF-9C24AB5AF998}" type="pres">
      <dgm:prSet presAssocID="{FE61CD11-5313-4C88-8E87-FB86AC652EC2}" presName="compNode" presStyleCnt="0"/>
      <dgm:spPr/>
    </dgm:pt>
    <dgm:pt modelId="{DCECC49B-75B5-4539-BF65-A97769B2F36B}" type="pres">
      <dgm:prSet presAssocID="{FE61CD11-5313-4C88-8E87-FB86AC652EC2}" presName="bgRect" presStyleLbl="bgShp" presStyleIdx="1" presStyleCnt="3"/>
      <dgm:spPr/>
    </dgm:pt>
    <dgm:pt modelId="{B3CBCA54-1534-484A-952F-1AF1B266B6A0}" type="pres">
      <dgm:prSet presAssocID="{FE61CD11-5313-4C88-8E87-FB86AC652EC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stadísticas"/>
        </a:ext>
      </dgm:extLst>
    </dgm:pt>
    <dgm:pt modelId="{56BB94C9-E2F3-4A82-B4C1-318B0DA01DA8}" type="pres">
      <dgm:prSet presAssocID="{FE61CD11-5313-4C88-8E87-FB86AC652EC2}" presName="spaceRect" presStyleCnt="0"/>
      <dgm:spPr/>
    </dgm:pt>
    <dgm:pt modelId="{E3503209-01F5-462A-AD6B-7F8B34570AB6}" type="pres">
      <dgm:prSet presAssocID="{FE61CD11-5313-4C88-8E87-FB86AC652EC2}" presName="parTx" presStyleLbl="revTx" presStyleIdx="1" presStyleCnt="3">
        <dgm:presLayoutVars>
          <dgm:chMax val="0"/>
          <dgm:chPref val="0"/>
        </dgm:presLayoutVars>
      </dgm:prSet>
      <dgm:spPr/>
    </dgm:pt>
    <dgm:pt modelId="{F821CFED-E219-4979-BE13-D08B92A74250}" type="pres">
      <dgm:prSet presAssocID="{F3FF6549-F94E-408A-9CF2-73C80DF82F10}" presName="sibTrans" presStyleCnt="0"/>
      <dgm:spPr/>
    </dgm:pt>
    <dgm:pt modelId="{1A33788E-4FC4-4083-8619-9351C3F94DA7}" type="pres">
      <dgm:prSet presAssocID="{D0BD32FC-8F0E-4583-85E6-47701116FC20}" presName="compNode" presStyleCnt="0"/>
      <dgm:spPr/>
    </dgm:pt>
    <dgm:pt modelId="{88C59613-6503-4AAA-870A-D52ACC6E3DF7}" type="pres">
      <dgm:prSet presAssocID="{D0BD32FC-8F0E-4583-85E6-47701116FC20}" presName="bgRect" presStyleLbl="bgShp" presStyleIdx="2" presStyleCnt="3"/>
      <dgm:spPr/>
    </dgm:pt>
    <dgm:pt modelId="{2343BABD-E0BC-40D9-9A1F-1998C2C8BE37}" type="pres">
      <dgm:prSet presAssocID="{D0BD32FC-8F0E-4583-85E6-47701116FC2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A1E41F21-9EA0-4A40-89B3-EC2DFE77E3D8}" type="pres">
      <dgm:prSet presAssocID="{D0BD32FC-8F0E-4583-85E6-47701116FC20}" presName="spaceRect" presStyleCnt="0"/>
      <dgm:spPr/>
    </dgm:pt>
    <dgm:pt modelId="{3A480D8A-BD8B-4C18-A386-E5A81498F087}" type="pres">
      <dgm:prSet presAssocID="{D0BD32FC-8F0E-4583-85E6-47701116FC20}" presName="parTx" presStyleLbl="revTx" presStyleIdx="2" presStyleCnt="3">
        <dgm:presLayoutVars>
          <dgm:chMax val="0"/>
          <dgm:chPref val="0"/>
        </dgm:presLayoutVars>
      </dgm:prSet>
      <dgm:spPr/>
    </dgm:pt>
  </dgm:ptLst>
  <dgm:cxnLst>
    <dgm:cxn modelId="{720EC012-4F54-4B69-873D-9E4BC558C9C8}" srcId="{D1D6E3D1-655E-4027-9161-A4A36830E48F}" destId="{FE61CD11-5313-4C88-8E87-FB86AC652EC2}" srcOrd="1" destOrd="0" parTransId="{B63C45E1-75E0-4EC2-A58B-9772E7563E28}" sibTransId="{F3FF6549-F94E-408A-9CF2-73C80DF82F10}"/>
    <dgm:cxn modelId="{603FFC38-6AEC-4F9E-871B-501657847B03}" type="presOf" srcId="{FE61CD11-5313-4C88-8E87-FB86AC652EC2}" destId="{E3503209-01F5-462A-AD6B-7F8B34570AB6}" srcOrd="0" destOrd="0" presId="urn:microsoft.com/office/officeart/2018/2/layout/IconVerticalSolidList"/>
    <dgm:cxn modelId="{8336B460-9268-4DDE-9D31-F09FA4ECDE3C}" type="presOf" srcId="{D1D6E3D1-655E-4027-9161-A4A36830E48F}" destId="{AFAF63A8-D779-4DC5-9080-8CBEF44A9756}" srcOrd="0" destOrd="0" presId="urn:microsoft.com/office/officeart/2018/2/layout/IconVerticalSolidList"/>
    <dgm:cxn modelId="{99470143-B3F5-47D6-8840-CCE8E8E85D2E}" type="presOf" srcId="{41959949-B76D-491B-B205-6D6DF6EF0D74}" destId="{592E369E-9DEA-4A7C-A7C6-0E0F8CDC2F93}" srcOrd="0" destOrd="0" presId="urn:microsoft.com/office/officeart/2018/2/layout/IconVerticalSolidList"/>
    <dgm:cxn modelId="{C6BC1475-2B3F-4361-97A3-2019865B8A11}" srcId="{D1D6E3D1-655E-4027-9161-A4A36830E48F}" destId="{41959949-B76D-491B-B205-6D6DF6EF0D74}" srcOrd="0" destOrd="0" parTransId="{71A1FA6F-7151-45F3-8427-F8C9FDC3609E}" sibTransId="{9C5E24AE-B588-4C89-A608-C0F1A6210827}"/>
    <dgm:cxn modelId="{0939D1DE-E9B2-4B8D-AABB-FAF673B2E091}" srcId="{D1D6E3D1-655E-4027-9161-A4A36830E48F}" destId="{D0BD32FC-8F0E-4583-85E6-47701116FC20}" srcOrd="2" destOrd="0" parTransId="{5146B080-0B2B-42AA-9D7D-F8BDEA82B607}" sibTransId="{5BA2036D-D69F-4956-97C8-75FE8B516B0D}"/>
    <dgm:cxn modelId="{689A89F8-E604-468C-93B3-1A98278B1D31}" type="presOf" srcId="{D0BD32FC-8F0E-4583-85E6-47701116FC20}" destId="{3A480D8A-BD8B-4C18-A386-E5A81498F087}" srcOrd="0" destOrd="0" presId="urn:microsoft.com/office/officeart/2018/2/layout/IconVerticalSolidList"/>
    <dgm:cxn modelId="{C54909EC-F727-46E9-8507-FDF716251418}" type="presParOf" srcId="{AFAF63A8-D779-4DC5-9080-8CBEF44A9756}" destId="{948A6293-C7E4-4AAA-AA1C-8C1E65EA8061}" srcOrd="0" destOrd="0" presId="urn:microsoft.com/office/officeart/2018/2/layout/IconVerticalSolidList"/>
    <dgm:cxn modelId="{00873B87-33A3-41B2-BF9B-43438413C221}" type="presParOf" srcId="{948A6293-C7E4-4AAA-AA1C-8C1E65EA8061}" destId="{32775CE7-E59B-4E02-8770-CA06DF2161ED}" srcOrd="0" destOrd="0" presId="urn:microsoft.com/office/officeart/2018/2/layout/IconVerticalSolidList"/>
    <dgm:cxn modelId="{E8F73A26-E5CC-4ED8-A228-572B3045185A}" type="presParOf" srcId="{948A6293-C7E4-4AAA-AA1C-8C1E65EA8061}" destId="{439CFF89-A2B8-4281-8D01-3796CE5F5BB2}" srcOrd="1" destOrd="0" presId="urn:microsoft.com/office/officeart/2018/2/layout/IconVerticalSolidList"/>
    <dgm:cxn modelId="{C2E04142-E1E2-476A-AB2B-2285F94EB7D5}" type="presParOf" srcId="{948A6293-C7E4-4AAA-AA1C-8C1E65EA8061}" destId="{99FBDA5A-0935-4FBE-92EC-DCDC4D1D61A6}" srcOrd="2" destOrd="0" presId="urn:microsoft.com/office/officeart/2018/2/layout/IconVerticalSolidList"/>
    <dgm:cxn modelId="{3FB532BC-0991-4F05-A730-8D1443B54A7D}" type="presParOf" srcId="{948A6293-C7E4-4AAA-AA1C-8C1E65EA8061}" destId="{592E369E-9DEA-4A7C-A7C6-0E0F8CDC2F93}" srcOrd="3" destOrd="0" presId="urn:microsoft.com/office/officeart/2018/2/layout/IconVerticalSolidList"/>
    <dgm:cxn modelId="{27AE4FC4-54D3-4EF0-9971-6C9737963DBA}" type="presParOf" srcId="{AFAF63A8-D779-4DC5-9080-8CBEF44A9756}" destId="{88F17DCE-FF35-4692-9E98-734C8030B59A}" srcOrd="1" destOrd="0" presId="urn:microsoft.com/office/officeart/2018/2/layout/IconVerticalSolidList"/>
    <dgm:cxn modelId="{8FD3A4A4-D9DB-4A78-8DE5-CBA529A9FBEC}" type="presParOf" srcId="{AFAF63A8-D779-4DC5-9080-8CBEF44A9756}" destId="{E3E7C297-4263-411D-A2CF-9C24AB5AF998}" srcOrd="2" destOrd="0" presId="urn:microsoft.com/office/officeart/2018/2/layout/IconVerticalSolidList"/>
    <dgm:cxn modelId="{47E0BCD6-A189-4FA1-BBD6-6D05313F86FA}" type="presParOf" srcId="{E3E7C297-4263-411D-A2CF-9C24AB5AF998}" destId="{DCECC49B-75B5-4539-BF65-A97769B2F36B}" srcOrd="0" destOrd="0" presId="urn:microsoft.com/office/officeart/2018/2/layout/IconVerticalSolidList"/>
    <dgm:cxn modelId="{F8476F95-E2B5-4901-B4DF-18507650A813}" type="presParOf" srcId="{E3E7C297-4263-411D-A2CF-9C24AB5AF998}" destId="{B3CBCA54-1534-484A-952F-1AF1B266B6A0}" srcOrd="1" destOrd="0" presId="urn:microsoft.com/office/officeart/2018/2/layout/IconVerticalSolidList"/>
    <dgm:cxn modelId="{17E9F160-60F2-4307-B899-835A100EB3A3}" type="presParOf" srcId="{E3E7C297-4263-411D-A2CF-9C24AB5AF998}" destId="{56BB94C9-E2F3-4A82-B4C1-318B0DA01DA8}" srcOrd="2" destOrd="0" presId="urn:microsoft.com/office/officeart/2018/2/layout/IconVerticalSolidList"/>
    <dgm:cxn modelId="{AD7A1035-4AE4-445B-B31E-A02065B0C25A}" type="presParOf" srcId="{E3E7C297-4263-411D-A2CF-9C24AB5AF998}" destId="{E3503209-01F5-462A-AD6B-7F8B34570AB6}" srcOrd="3" destOrd="0" presId="urn:microsoft.com/office/officeart/2018/2/layout/IconVerticalSolidList"/>
    <dgm:cxn modelId="{97C9988F-8894-4369-8509-F0463AF762AC}" type="presParOf" srcId="{AFAF63A8-D779-4DC5-9080-8CBEF44A9756}" destId="{F821CFED-E219-4979-BE13-D08B92A74250}" srcOrd="3" destOrd="0" presId="urn:microsoft.com/office/officeart/2018/2/layout/IconVerticalSolidList"/>
    <dgm:cxn modelId="{93C43B4B-51C9-4977-B424-19FB8A39BAFB}" type="presParOf" srcId="{AFAF63A8-D779-4DC5-9080-8CBEF44A9756}" destId="{1A33788E-4FC4-4083-8619-9351C3F94DA7}" srcOrd="4" destOrd="0" presId="urn:microsoft.com/office/officeart/2018/2/layout/IconVerticalSolidList"/>
    <dgm:cxn modelId="{CD3CEE76-59D3-402D-A33A-A61E7E25B34E}" type="presParOf" srcId="{1A33788E-4FC4-4083-8619-9351C3F94DA7}" destId="{88C59613-6503-4AAA-870A-D52ACC6E3DF7}" srcOrd="0" destOrd="0" presId="urn:microsoft.com/office/officeart/2018/2/layout/IconVerticalSolidList"/>
    <dgm:cxn modelId="{1622A062-B491-4A08-B269-E4A20C78E418}" type="presParOf" srcId="{1A33788E-4FC4-4083-8619-9351C3F94DA7}" destId="{2343BABD-E0BC-40D9-9A1F-1998C2C8BE37}" srcOrd="1" destOrd="0" presId="urn:microsoft.com/office/officeart/2018/2/layout/IconVerticalSolidList"/>
    <dgm:cxn modelId="{AEC516E6-C850-46CA-8BDB-78918B6578B8}" type="presParOf" srcId="{1A33788E-4FC4-4083-8619-9351C3F94DA7}" destId="{A1E41F21-9EA0-4A40-89B3-EC2DFE77E3D8}" srcOrd="2" destOrd="0" presId="urn:microsoft.com/office/officeart/2018/2/layout/IconVerticalSolidList"/>
    <dgm:cxn modelId="{8C9135BC-82FE-4BF4-B501-A9439EE50360}" type="presParOf" srcId="{1A33788E-4FC4-4083-8619-9351C3F94DA7}" destId="{3A480D8A-BD8B-4C18-A386-E5A81498F08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F663A9-79CF-4BE3-9387-06D59C1D1B85}">
      <dsp:nvSpPr>
        <dsp:cNvPr id="0" name=""/>
        <dsp:cNvSpPr/>
      </dsp:nvSpPr>
      <dsp:spPr>
        <a:xfrm>
          <a:off x="0" y="558555"/>
          <a:ext cx="4586513" cy="11285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975680-9E99-4087-8B52-F8A169868B69}">
      <dsp:nvSpPr>
        <dsp:cNvPr id="0" name=""/>
        <dsp:cNvSpPr/>
      </dsp:nvSpPr>
      <dsp:spPr>
        <a:xfrm>
          <a:off x="341374" y="812470"/>
          <a:ext cx="620680" cy="6206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D924E1-296C-4BDA-8F9E-358E934036DA}">
      <dsp:nvSpPr>
        <dsp:cNvPr id="0" name=""/>
        <dsp:cNvSpPr/>
      </dsp:nvSpPr>
      <dsp:spPr>
        <a:xfrm>
          <a:off x="1303429" y="558555"/>
          <a:ext cx="3283083" cy="1128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34" tIns="119434" rIns="119434" bIns="119434" numCol="1" spcCol="1270" anchor="ctr" anchorCtr="0">
          <a:noAutofit/>
        </a:bodyPr>
        <a:lstStyle/>
        <a:p>
          <a:pPr marL="0" lvl="0" indent="0" algn="l" defTabSz="622300">
            <a:lnSpc>
              <a:spcPct val="100000"/>
            </a:lnSpc>
            <a:spcBef>
              <a:spcPct val="0"/>
            </a:spcBef>
            <a:spcAft>
              <a:spcPct val="35000"/>
            </a:spcAft>
            <a:buNone/>
          </a:pPr>
          <a:r>
            <a:rPr lang="es-AR" sz="1400" b="1" kern="1200" dirty="0"/>
            <a:t>Aplicación de escritorio </a:t>
          </a:r>
          <a:r>
            <a:rPr lang="es-AR" sz="1400" kern="1200" dirty="0"/>
            <a:t>para el </a:t>
          </a:r>
          <a:r>
            <a:rPr lang="es-AR" sz="1400" b="1" kern="1200" dirty="0"/>
            <a:t>análisis</a:t>
          </a:r>
          <a:r>
            <a:rPr lang="es-AR" sz="1400" kern="1200" dirty="0"/>
            <a:t> inteligente de </a:t>
          </a:r>
          <a:r>
            <a:rPr lang="es-AR" sz="1400" b="1" kern="1200" dirty="0"/>
            <a:t>tendencias</a:t>
          </a:r>
          <a:r>
            <a:rPr lang="es-AR" sz="1400" kern="1200" dirty="0"/>
            <a:t> en </a:t>
          </a:r>
          <a:r>
            <a:rPr lang="es-AR" sz="1400" b="1" kern="1200" dirty="0"/>
            <a:t>redes sociales</a:t>
          </a:r>
          <a:r>
            <a:rPr lang="es-AR" sz="1400" kern="1200" dirty="0"/>
            <a:t>. </a:t>
          </a:r>
          <a:endParaRPr lang="en-US" sz="1400" kern="1200" dirty="0"/>
        </a:p>
      </dsp:txBody>
      <dsp:txXfrm>
        <a:off x="1303429" y="558555"/>
        <a:ext cx="3283083" cy="1128510"/>
      </dsp:txXfrm>
    </dsp:sp>
    <dsp:sp modelId="{7F5B8292-22A8-4217-B0A3-F2DC7B39BBFB}">
      <dsp:nvSpPr>
        <dsp:cNvPr id="0" name=""/>
        <dsp:cNvSpPr/>
      </dsp:nvSpPr>
      <dsp:spPr>
        <a:xfrm>
          <a:off x="0" y="1960644"/>
          <a:ext cx="4586513" cy="11285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EA41CC-CAA0-45BF-BC33-EE1D8FA43625}">
      <dsp:nvSpPr>
        <dsp:cNvPr id="0" name=""/>
        <dsp:cNvSpPr/>
      </dsp:nvSpPr>
      <dsp:spPr>
        <a:xfrm>
          <a:off x="341374" y="2214558"/>
          <a:ext cx="620680" cy="6206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7EAB21-26F8-4BAC-AD0F-967801902842}">
      <dsp:nvSpPr>
        <dsp:cNvPr id="0" name=""/>
        <dsp:cNvSpPr/>
      </dsp:nvSpPr>
      <dsp:spPr>
        <a:xfrm>
          <a:off x="1303429" y="1960644"/>
          <a:ext cx="3283083" cy="1128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34" tIns="119434" rIns="119434" bIns="119434" numCol="1" spcCol="1270" anchor="ctr" anchorCtr="0">
          <a:noAutofit/>
        </a:bodyPr>
        <a:lstStyle/>
        <a:p>
          <a:pPr marL="0" lvl="0" indent="0" algn="l" defTabSz="622300">
            <a:lnSpc>
              <a:spcPct val="100000"/>
            </a:lnSpc>
            <a:spcBef>
              <a:spcPct val="0"/>
            </a:spcBef>
            <a:spcAft>
              <a:spcPct val="35000"/>
            </a:spcAft>
            <a:buNone/>
          </a:pPr>
          <a:r>
            <a:rPr lang="es-AR" sz="1400" b="1" kern="1200" dirty="0"/>
            <a:t>Procesa</a:t>
          </a:r>
          <a:r>
            <a:rPr lang="es-AR" sz="1400" kern="1200" dirty="0"/>
            <a:t> </a:t>
          </a:r>
          <a:r>
            <a:rPr lang="es-AR" sz="1400" b="1" kern="1200" dirty="0"/>
            <a:t>datasets</a:t>
          </a:r>
          <a:r>
            <a:rPr lang="es-AR" sz="1400" kern="1200" dirty="0"/>
            <a:t> de publicaciones utilizando </a:t>
          </a:r>
          <a:r>
            <a:rPr lang="es-AR" sz="1400" b="1" kern="1200" dirty="0"/>
            <a:t>técnicas de análisis de datos y machine learning </a:t>
          </a:r>
          <a:r>
            <a:rPr lang="es-AR" sz="1400" kern="1200" dirty="0"/>
            <a:t>para </a:t>
          </a:r>
          <a:r>
            <a:rPr lang="es-AR" sz="1400" b="1" kern="1200" dirty="0"/>
            <a:t>predecir</a:t>
          </a:r>
          <a:r>
            <a:rPr lang="es-AR" sz="1400" kern="1200" dirty="0"/>
            <a:t> la </a:t>
          </a:r>
          <a:r>
            <a:rPr lang="es-AR" sz="1400" b="1" kern="1200" dirty="0"/>
            <a:t>relevancia</a:t>
          </a:r>
          <a:r>
            <a:rPr lang="es-AR" sz="1400" kern="1200" dirty="0"/>
            <a:t> de contenidos.</a:t>
          </a:r>
          <a:endParaRPr lang="en-US" sz="1400" kern="1200" dirty="0"/>
        </a:p>
      </dsp:txBody>
      <dsp:txXfrm>
        <a:off x="1303429" y="1960644"/>
        <a:ext cx="3283083" cy="11285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D9E924-AE34-4659-A30C-F612D7A7CB22}">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FCFE0D-D9D8-4821-9D25-34F918045AC4}">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AR" sz="2400" b="1" kern="1200" dirty="0"/>
            <a:t>DeepLearning: </a:t>
          </a:r>
          <a:r>
            <a:rPr lang="es-AR" sz="2400" kern="1200" dirty="0"/>
            <a:t>reemplazar TF-IDF con embeddings (Word2Vec)</a:t>
          </a:r>
          <a:endParaRPr lang="en-US" sz="2400" kern="1200" dirty="0"/>
        </a:p>
      </dsp:txBody>
      <dsp:txXfrm>
        <a:off x="0" y="531"/>
        <a:ext cx="10515600" cy="870055"/>
      </dsp:txXfrm>
    </dsp:sp>
    <dsp:sp modelId="{A46F5ECF-27D2-4E5A-AADA-79BCAD20C6BB}">
      <dsp:nvSpPr>
        <dsp:cNvPr id="0" name=""/>
        <dsp:cNvSpPr/>
      </dsp:nvSpPr>
      <dsp:spPr>
        <a:xfrm>
          <a:off x="0" y="87058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E3469A-C31E-45D9-861C-BA4BB514AECA}">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AR" sz="2400" b="1" kern="1200" dirty="0"/>
            <a:t>Predicciones:</a:t>
          </a:r>
          <a:r>
            <a:rPr lang="es-AR" sz="2400" kern="1200" dirty="0"/>
            <a:t> predecir trends futuras (ARIMA, Prophet)</a:t>
          </a:r>
          <a:endParaRPr lang="en-US" sz="2400" kern="1200" dirty="0"/>
        </a:p>
      </dsp:txBody>
      <dsp:txXfrm>
        <a:off x="0" y="870586"/>
        <a:ext cx="10515600" cy="870055"/>
      </dsp:txXfrm>
    </dsp:sp>
    <dsp:sp modelId="{73868676-6112-4753-B68E-BFE9DF7CF5BE}">
      <dsp:nvSpPr>
        <dsp:cNvPr id="0" name=""/>
        <dsp:cNvSpPr/>
      </dsp:nvSpPr>
      <dsp:spPr>
        <a:xfrm>
          <a:off x="0" y="174064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4EBD77-75A6-4D49-A72B-50D48B8B6007}">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AR" sz="2400" b="1" kern="1200" dirty="0"/>
            <a:t>Colaboración: </a:t>
          </a:r>
          <a:r>
            <a:rPr lang="es-AR" sz="2400" kern="1200" dirty="0"/>
            <a:t>soporte multiusuario con Database. Compartir modelos e insights.</a:t>
          </a:r>
          <a:endParaRPr lang="en-US" sz="2400" kern="1200" dirty="0"/>
        </a:p>
      </dsp:txBody>
      <dsp:txXfrm>
        <a:off x="0" y="1740641"/>
        <a:ext cx="10515600" cy="870055"/>
      </dsp:txXfrm>
    </dsp:sp>
    <dsp:sp modelId="{253172CD-D6D7-45E4-A4F2-53AADEA6C019}">
      <dsp:nvSpPr>
        <dsp:cNvPr id="0" name=""/>
        <dsp:cNvSpPr/>
      </dsp:nvSpPr>
      <dsp:spPr>
        <a:xfrm>
          <a:off x="0" y="261069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B2B5A1-E5F5-4E5A-8FBF-6CB2726F749C}">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AR" sz="2400" b="1" kern="1200" dirty="0"/>
            <a:t>Datos en Tiempo Real:</a:t>
          </a:r>
          <a:r>
            <a:rPr lang="es-AR" sz="2400" kern="1200" dirty="0"/>
            <a:t> conectarse a una API de Twitter / X para obtener datos en vivo.</a:t>
          </a:r>
          <a:endParaRPr lang="en-US" sz="2400" kern="1200" dirty="0"/>
        </a:p>
      </dsp:txBody>
      <dsp:txXfrm>
        <a:off x="0" y="2610696"/>
        <a:ext cx="10515600" cy="870055"/>
      </dsp:txXfrm>
    </dsp:sp>
    <dsp:sp modelId="{1C145162-1603-4436-B796-9202779BD8BA}">
      <dsp:nvSpPr>
        <dsp:cNvPr id="0" name=""/>
        <dsp:cNvSpPr/>
      </dsp:nvSpPr>
      <dsp:spPr>
        <a:xfrm>
          <a:off x="0" y="348075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DA3720-1B47-42FC-886B-5B8E890D1801}">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AR" sz="2400" b="1" kern="1200" dirty="0"/>
            <a:t>Mejoras UI y Modo WEB:</a:t>
          </a:r>
          <a:r>
            <a:rPr lang="es-AR" sz="2400" kern="1200" dirty="0"/>
            <a:t> soportar múltiples lenguajes, cambiar entre modo dark y light, generar interfaz WEB.</a:t>
          </a:r>
          <a:endParaRPr lang="en-US" sz="2400" kern="1200" dirty="0"/>
        </a:p>
      </dsp:txBody>
      <dsp:txXfrm>
        <a:off x="0" y="3480751"/>
        <a:ext cx="10515600" cy="870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775CE7-E59B-4E02-8770-CA06DF2161ED}">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9CFF89-A2B8-4281-8D01-3796CE5F5BB2}">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2E369E-9DEA-4A7C-A7C6-0E0F8CDC2F93}">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666750">
            <a:lnSpc>
              <a:spcPct val="90000"/>
            </a:lnSpc>
            <a:spcBef>
              <a:spcPct val="0"/>
            </a:spcBef>
            <a:spcAft>
              <a:spcPct val="35000"/>
            </a:spcAft>
            <a:buNone/>
          </a:pPr>
          <a:r>
            <a:rPr lang="es-AR" sz="1500" b="1" kern="1200" dirty="0"/>
            <a:t>Word2Vec</a:t>
          </a:r>
          <a:r>
            <a:rPr lang="es-AR" sz="1500" kern="1200" dirty="0"/>
            <a:t>: técnica de procesamiento de lenguaje natural (NLP), que obtiene representaciones vectoriales de palabras. Los Vectores capturan información de palabras sobre el significado de la palabra basándose en palabras de los alrededores.</a:t>
          </a:r>
          <a:endParaRPr lang="en-US" sz="1500" kern="1200" dirty="0"/>
        </a:p>
      </dsp:txBody>
      <dsp:txXfrm>
        <a:off x="1437631" y="531"/>
        <a:ext cx="9077968" cy="1244702"/>
      </dsp:txXfrm>
    </dsp:sp>
    <dsp:sp modelId="{DCECC49B-75B5-4539-BF65-A97769B2F36B}">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CBCA54-1534-484A-952F-1AF1B266B6A0}">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503209-01F5-462A-AD6B-7F8B34570AB6}">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666750">
            <a:lnSpc>
              <a:spcPct val="90000"/>
            </a:lnSpc>
            <a:spcBef>
              <a:spcPct val="0"/>
            </a:spcBef>
            <a:spcAft>
              <a:spcPct val="35000"/>
            </a:spcAft>
            <a:buNone/>
          </a:pPr>
          <a:r>
            <a:rPr lang="es-AR" sz="1500" b="1" kern="1200" dirty="0"/>
            <a:t>ARIMA</a:t>
          </a:r>
          <a:r>
            <a:rPr lang="es-AR" sz="1500" kern="1200" dirty="0"/>
            <a:t>: Media Móvil Integrada Autorregresiva es un modelo estadístico utilizado para el análisis y la predicción de series temporales. Su objetivo es modelar y pronosticar valores futuros basándose únicamente en los datos pasados de la misma serie.</a:t>
          </a:r>
          <a:endParaRPr lang="en-US" sz="1500" kern="1200" dirty="0"/>
        </a:p>
      </dsp:txBody>
      <dsp:txXfrm>
        <a:off x="1437631" y="1556410"/>
        <a:ext cx="9077968" cy="1244702"/>
      </dsp:txXfrm>
    </dsp:sp>
    <dsp:sp modelId="{88C59613-6503-4AAA-870A-D52ACC6E3DF7}">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3BABD-E0BC-40D9-9A1F-1998C2C8BE37}">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480D8A-BD8B-4C18-A386-E5A81498F087}">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666750">
            <a:lnSpc>
              <a:spcPct val="90000"/>
            </a:lnSpc>
            <a:spcBef>
              <a:spcPct val="0"/>
            </a:spcBef>
            <a:spcAft>
              <a:spcPct val="35000"/>
            </a:spcAft>
            <a:buNone/>
          </a:pPr>
          <a:r>
            <a:rPr lang="es-AR" sz="1500" b="1" kern="1200" dirty="0"/>
            <a:t>Prophet</a:t>
          </a:r>
          <a:r>
            <a:rPr lang="es-AR" sz="1500" kern="1200" dirty="0"/>
            <a:t>: herramienta de código abierto de Meta (Facebook) diseñada para hacer predicciones en datos de series temporales de forma sencilla. Funciona descomponiendo los datos en una tendencia, estacionalidad (anual, semanal, diaria) y efectos de días festivos. La predicción se realiza mediante un modelo aditivo, y se proporcionan intervalos de confianza para medir la incertidumbre.</a:t>
          </a:r>
          <a:endParaRPr lang="en-US" sz="1500" kern="1200" dirty="0"/>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2060058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885321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994955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1196509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8" name="Footer Placeholder 7"/>
          <p:cNvSpPr>
            <a:spLocks noGrp="1"/>
          </p:cNvSpPr>
          <p:nvPr>
            <p:ph type="ftr" sz="quarter" idx="11"/>
          </p:nvPr>
        </p:nvSpPr>
        <p:spPr/>
        <p:txBody>
          <a:bodyPr/>
          <a:lstStyle/>
          <a:p>
            <a:endParaRPr lang="es-AR" dirty="0"/>
          </a:p>
        </p:txBody>
      </p:sp>
      <p:sp>
        <p:nvSpPr>
          <p:cNvPr id="9" name="Slide Number Placeholder 8"/>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146245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4" name="Footer Placeholder 3"/>
          <p:cNvSpPr>
            <a:spLocks noGrp="1"/>
          </p:cNvSpPr>
          <p:nvPr>
            <p:ph type="ftr" sz="quarter" idx="11"/>
          </p:nvPr>
        </p:nvSpPr>
        <p:spPr/>
        <p:txBody>
          <a:bodyPr/>
          <a:lstStyle/>
          <a:p>
            <a:endParaRPr lang="es-AR" dirty="0"/>
          </a:p>
        </p:txBody>
      </p:sp>
      <p:sp>
        <p:nvSpPr>
          <p:cNvPr id="5" name="Slide Number Placeholder 4"/>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1643812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3" name="Footer Placeholder 2"/>
          <p:cNvSpPr>
            <a:spLocks noGrp="1"/>
          </p:cNvSpPr>
          <p:nvPr>
            <p:ph type="ftr" sz="quarter" idx="11"/>
          </p:nvPr>
        </p:nvSpPr>
        <p:spPr/>
        <p:txBody>
          <a:bodyPr/>
          <a:lstStyle/>
          <a:p>
            <a:endParaRPr lang="es-AR" dirty="0"/>
          </a:p>
        </p:txBody>
      </p:sp>
      <p:sp>
        <p:nvSpPr>
          <p:cNvPr id="4" name="Slide Number Placeholder 3"/>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3955508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2838692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204177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2121943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2D34B87-BA34-4607-A720-BE5C456498A2}" type="datetimeFigureOut">
              <a:rPr lang="es-AR" smtClean="0"/>
              <a:t>27/11/2025</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DA6A5EDE-23E0-4961-917D-3D0F2465A4EB}" type="slidenum">
              <a:rPr lang="es-AR" smtClean="0"/>
              <a:t>‹Nº›</a:t>
            </a:fld>
            <a:endParaRPr lang="es-AR" dirty="0"/>
          </a:p>
        </p:txBody>
      </p:sp>
    </p:spTree>
    <p:extLst>
      <p:ext uri="{BB962C8B-B14F-4D97-AF65-F5344CB8AC3E}">
        <p14:creationId xmlns:p14="http://schemas.microsoft.com/office/powerpoint/2010/main" val="1323970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B2D34B87-BA34-4607-A720-BE5C456498A2}" type="datetimeFigureOut">
              <a:rPr lang="es-AR" smtClean="0"/>
              <a:t>27/11/2025</a:t>
            </a:fld>
            <a:endParaRPr lang="es-AR"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s-AR"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DA6A5EDE-23E0-4961-917D-3D0F2465A4EB}" type="slidenum">
              <a:rPr lang="es-AR" smtClean="0"/>
              <a:t>‹Nº›</a:t>
            </a:fld>
            <a:endParaRPr lang="es-AR" dirty="0"/>
          </a:p>
        </p:txBody>
      </p:sp>
    </p:spTree>
    <p:extLst>
      <p:ext uri="{BB962C8B-B14F-4D97-AF65-F5344CB8AC3E}">
        <p14:creationId xmlns:p14="http://schemas.microsoft.com/office/powerpoint/2010/main" val="325041482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Universidad Blas Pascal - Wikipedia, la enciclopedia libre">
            <a:extLst>
              <a:ext uri="{FF2B5EF4-FFF2-40B4-BE49-F238E27FC236}">
                <a16:creationId xmlns:a16="http://schemas.microsoft.com/office/drawing/2014/main" id="{CF4BB7A3-3791-4C03-ECF6-AB97B694564B}"/>
              </a:ext>
            </a:extLst>
          </p:cNvPr>
          <p:cNvPicPr>
            <a:picLocks noChangeAspect="1" noChangeArrowheads="1"/>
          </p:cNvPicPr>
          <p:nvPr/>
        </p:nvPicPr>
        <p:blipFill>
          <a:blip r:embed="rId2">
            <a:alphaModFix amt="40000"/>
            <a:extLst>
              <a:ext uri="{28A0092B-C50C-407E-A947-70E740481C1C}">
                <a14:useLocalDpi xmlns:a14="http://schemas.microsoft.com/office/drawing/2010/main" val="0"/>
              </a:ext>
            </a:extLst>
          </a:blip>
          <a:srcRect t="32677" b="8113"/>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EA085EF-28D5-F3A5-DA3F-745863623B6A}"/>
              </a:ext>
            </a:extLst>
          </p:cNvPr>
          <p:cNvSpPr>
            <a:spLocks noGrp="1"/>
          </p:cNvSpPr>
          <p:nvPr>
            <p:ph type="ctrTitle"/>
          </p:nvPr>
        </p:nvSpPr>
        <p:spPr>
          <a:xfrm>
            <a:off x="965200" y="965200"/>
            <a:ext cx="10261600" cy="3564869"/>
          </a:xfrm>
        </p:spPr>
        <p:txBody>
          <a:bodyPr>
            <a:normAutofit/>
          </a:bodyPr>
          <a:lstStyle/>
          <a:p>
            <a:pPr algn="l"/>
            <a:r>
              <a:rPr lang="es-AR" sz="11500">
                <a:ln w="22225">
                  <a:solidFill>
                    <a:schemeClr val="tx1"/>
                  </a:solidFill>
                  <a:miter lim="800000"/>
                </a:ln>
                <a:noFill/>
              </a:rPr>
              <a:t>SOCIAL TREND ANALYZER</a:t>
            </a:r>
            <a:endParaRPr lang="es-AR" sz="11500" b="1">
              <a:ln w="22225">
                <a:solidFill>
                  <a:schemeClr val="tx1"/>
                </a:solidFill>
                <a:miter lim="800000"/>
              </a:ln>
              <a:noFill/>
            </a:endParaRPr>
          </a:p>
        </p:txBody>
      </p:sp>
      <p:sp>
        <p:nvSpPr>
          <p:cNvPr id="3" name="Subtítulo 2">
            <a:extLst>
              <a:ext uri="{FF2B5EF4-FFF2-40B4-BE49-F238E27FC236}">
                <a16:creationId xmlns:a16="http://schemas.microsoft.com/office/drawing/2014/main" id="{494DA3B0-8BD0-2C53-BC95-91924EFB054C}"/>
              </a:ext>
            </a:extLst>
          </p:cNvPr>
          <p:cNvSpPr>
            <a:spLocks noGrp="1"/>
          </p:cNvSpPr>
          <p:nvPr>
            <p:ph type="subTitle" idx="1"/>
          </p:nvPr>
        </p:nvSpPr>
        <p:spPr>
          <a:xfrm>
            <a:off x="965200" y="4572002"/>
            <a:ext cx="10261600" cy="1202995"/>
          </a:xfrm>
        </p:spPr>
        <p:txBody>
          <a:bodyPr>
            <a:normAutofit/>
          </a:bodyPr>
          <a:lstStyle/>
          <a:p>
            <a:pPr algn="l"/>
            <a:r>
              <a:rPr lang="es-AR" sz="2000" b="1" dirty="0"/>
              <a:t>UNIVERSIDAD BLAS PASCAL</a:t>
            </a:r>
          </a:p>
          <a:p>
            <a:pPr algn="l"/>
            <a:r>
              <a:rPr lang="es-AR" sz="2000" b="1" dirty="0"/>
              <a:t>PROGRAMACIÓN DECLARATIVA - 2025</a:t>
            </a:r>
          </a:p>
          <a:p>
            <a:pPr algn="l"/>
            <a:r>
              <a:rPr lang="es-AR" sz="2000" b="1" dirty="0"/>
              <a:t>TOMAS MOLINA Y EDGAR KARPOWICZ</a:t>
            </a:r>
          </a:p>
        </p:txBody>
      </p:sp>
    </p:spTree>
    <p:extLst>
      <p:ext uri="{BB962C8B-B14F-4D97-AF65-F5344CB8AC3E}">
        <p14:creationId xmlns:p14="http://schemas.microsoft.com/office/powerpoint/2010/main" val="316312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ráfico">
            <a:extLst>
              <a:ext uri="{FF2B5EF4-FFF2-40B4-BE49-F238E27FC236}">
                <a16:creationId xmlns:a16="http://schemas.microsoft.com/office/drawing/2014/main" id="{5C39A84E-C921-9223-CA0D-1563EFCA846E}"/>
              </a:ext>
            </a:extLst>
          </p:cNvPr>
          <p:cNvPicPr>
            <a:picLocks noChangeAspect="1"/>
          </p:cNvPicPr>
          <p:nvPr/>
        </p:nvPicPr>
        <p:blipFill>
          <a:blip r:embed="rId2">
            <a:alphaModFix amt="35000"/>
          </a:blip>
          <a:srcRect t="6504" b="3496"/>
          <a:stretch>
            <a:fillRect/>
          </a:stretch>
        </p:blipFill>
        <p:spPr>
          <a:xfrm>
            <a:off x="20" y="1"/>
            <a:ext cx="12191980" cy="6857999"/>
          </a:xfrm>
          <a:prstGeom prst="rect">
            <a:avLst/>
          </a:prstGeom>
        </p:spPr>
      </p:pic>
      <p:sp>
        <p:nvSpPr>
          <p:cNvPr id="2" name="Título 1">
            <a:extLst>
              <a:ext uri="{FF2B5EF4-FFF2-40B4-BE49-F238E27FC236}">
                <a16:creationId xmlns:a16="http://schemas.microsoft.com/office/drawing/2014/main" id="{E5138726-F047-E0F3-E4F2-DC2D7D5A758C}"/>
              </a:ext>
            </a:extLst>
          </p:cNvPr>
          <p:cNvSpPr>
            <a:spLocks noGrp="1"/>
          </p:cNvSpPr>
          <p:nvPr>
            <p:ph type="title"/>
          </p:nvPr>
        </p:nvSpPr>
        <p:spPr>
          <a:xfrm>
            <a:off x="838199" y="1065862"/>
            <a:ext cx="6052955" cy="4726276"/>
          </a:xfrm>
        </p:spPr>
        <p:txBody>
          <a:bodyPr>
            <a:normAutofit/>
          </a:bodyPr>
          <a:lstStyle/>
          <a:p>
            <a:pPr algn="r"/>
            <a:r>
              <a:rPr lang="es-AR" sz="8000" dirty="0">
                <a:ln w="22225">
                  <a:solidFill>
                    <a:srgbClr val="FFFFFF"/>
                  </a:solidFill>
                </a:ln>
                <a:noFill/>
              </a:rPr>
              <a:t>CONSIGNA GENERAL:</a:t>
            </a:r>
          </a:p>
        </p:txBody>
      </p:sp>
      <p:sp>
        <p:nvSpPr>
          <p:cNvPr id="3" name="Marcador de contenido 2">
            <a:extLst>
              <a:ext uri="{FF2B5EF4-FFF2-40B4-BE49-F238E27FC236}">
                <a16:creationId xmlns:a16="http://schemas.microsoft.com/office/drawing/2014/main" id="{F217D342-63D6-E221-F3EB-9D9D8A2ADFC7}"/>
              </a:ext>
            </a:extLst>
          </p:cNvPr>
          <p:cNvSpPr>
            <a:spLocks noGrp="1"/>
          </p:cNvSpPr>
          <p:nvPr>
            <p:ph idx="1"/>
          </p:nvPr>
        </p:nvSpPr>
        <p:spPr>
          <a:xfrm>
            <a:off x="7534641" y="1065862"/>
            <a:ext cx="3860002" cy="4726276"/>
          </a:xfrm>
        </p:spPr>
        <p:txBody>
          <a:bodyPr anchor="ctr">
            <a:normAutofit/>
          </a:bodyPr>
          <a:lstStyle/>
          <a:p>
            <a:r>
              <a:rPr lang="es-AR" sz="1700" dirty="0">
                <a:solidFill>
                  <a:srgbClr val="FFFFFF"/>
                </a:solidFill>
              </a:rPr>
              <a:t>Dado un dataset de publicaciones (usuario, texto, hashtags, likes):</a:t>
            </a:r>
          </a:p>
          <a:p>
            <a:pPr lvl="1"/>
            <a:r>
              <a:rPr lang="es-AR" sz="1700" dirty="0">
                <a:solidFill>
                  <a:srgbClr val="FFFFFF"/>
                </a:solidFill>
              </a:rPr>
              <a:t>Procesar datos con pandas (hashtags más usados, usuarios más activos).</a:t>
            </a:r>
          </a:p>
          <a:p>
            <a:pPr lvl="1"/>
            <a:r>
              <a:rPr lang="es-AR" sz="1700" dirty="0">
                <a:solidFill>
                  <a:srgbClr val="FFFFFF"/>
                </a:solidFill>
              </a:rPr>
              <a:t>Usar NumPy para calcular métricas de popularidad y engagement.</a:t>
            </a:r>
          </a:p>
          <a:p>
            <a:pPr lvl="1"/>
            <a:r>
              <a:rPr lang="es-AR" sz="1700" dirty="0">
                <a:solidFill>
                  <a:srgbClr val="FFFFFF"/>
                </a:solidFill>
              </a:rPr>
              <a:t>Graficar con Matplotlib las tendencias de hashtags en el tiempo.</a:t>
            </a:r>
          </a:p>
          <a:p>
            <a:pPr lvl="1"/>
            <a:r>
              <a:rPr lang="es-AR" sz="1700" dirty="0">
                <a:solidFill>
                  <a:srgbClr val="FFFFFF"/>
                </a:solidFill>
              </a:rPr>
              <a:t>Entrenar un modelo de IA (NLP básico con TF-IDF + clustering o regresión logística) para clasificar publicaciones entre “alta” o “baja” relevancia.</a:t>
            </a:r>
          </a:p>
          <a:p>
            <a:endParaRPr lang="es-AR" sz="1700" dirty="0">
              <a:solidFill>
                <a:srgbClr val="FFFFFF"/>
              </a:solidFill>
            </a:endParaRPr>
          </a:p>
        </p:txBody>
      </p:sp>
    </p:spTree>
    <p:extLst>
      <p:ext uri="{BB962C8B-B14F-4D97-AF65-F5344CB8AC3E}">
        <p14:creationId xmlns:p14="http://schemas.microsoft.com/office/powerpoint/2010/main" val="288846927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858B76-CCD0-6E0C-B988-D10560202BE9}"/>
              </a:ext>
            </a:extLst>
          </p:cNvPr>
          <p:cNvSpPr>
            <a:spLocks noGrp="1"/>
          </p:cNvSpPr>
          <p:nvPr>
            <p:ph type="title"/>
          </p:nvPr>
        </p:nvSpPr>
        <p:spPr>
          <a:xfrm>
            <a:off x="838200" y="448721"/>
            <a:ext cx="4707671" cy="1225650"/>
          </a:xfrm>
        </p:spPr>
        <p:txBody>
          <a:bodyPr anchor="b">
            <a:normAutofit/>
          </a:bodyPr>
          <a:lstStyle/>
          <a:p>
            <a:r>
              <a:rPr lang="es-AR" sz="5400" dirty="0">
                <a:ln w="22225">
                  <a:solidFill>
                    <a:srgbClr val="FFFFFF"/>
                  </a:solidFill>
                </a:ln>
                <a:noFill/>
              </a:rPr>
              <a:t>RESULTADO</a:t>
            </a:r>
            <a:endParaRPr lang="es-AR" sz="5400" dirty="0">
              <a:solidFill>
                <a:schemeClr val="bg1"/>
              </a:solidFill>
            </a:endParaRPr>
          </a:p>
        </p:txBody>
      </p:sp>
      <p:graphicFrame>
        <p:nvGraphicFramePr>
          <p:cNvPr id="35" name="Marcador de contenido 2">
            <a:extLst>
              <a:ext uri="{FF2B5EF4-FFF2-40B4-BE49-F238E27FC236}">
                <a16:creationId xmlns:a16="http://schemas.microsoft.com/office/drawing/2014/main" id="{D285FD26-B30A-D985-B8A9-AEFA16903A1E}"/>
              </a:ext>
            </a:extLst>
          </p:cNvPr>
          <p:cNvGraphicFramePr>
            <a:graphicFrameLocks noGrp="1"/>
          </p:cNvGraphicFramePr>
          <p:nvPr>
            <p:ph idx="1"/>
            <p:extLst>
              <p:ext uri="{D42A27DB-BD31-4B8C-83A1-F6EECF244321}">
                <p14:modId xmlns:p14="http://schemas.microsoft.com/office/powerpoint/2010/main" val="319478356"/>
              </p:ext>
            </p:extLst>
          </p:nvPr>
        </p:nvGraphicFramePr>
        <p:xfrm>
          <a:off x="897769" y="1909192"/>
          <a:ext cx="4586513" cy="36477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descr="Captura de pantalla de computadora&#10;&#10;El contenido generado por IA puede ser incorrecto.">
            <a:extLst>
              <a:ext uri="{FF2B5EF4-FFF2-40B4-BE49-F238E27FC236}">
                <a16:creationId xmlns:a16="http://schemas.microsoft.com/office/drawing/2014/main" id="{CB33C79C-7FBE-536A-724B-92AF155C82C4}"/>
              </a:ext>
            </a:extLst>
          </p:cNvPr>
          <p:cNvPicPr>
            <a:picLocks noChangeAspect="1"/>
          </p:cNvPicPr>
          <p:nvPr/>
        </p:nvPicPr>
        <p:blipFill>
          <a:blip r:embed="rId7"/>
          <a:stretch>
            <a:fillRect/>
          </a:stretch>
        </p:blipFill>
        <p:spPr>
          <a:xfrm>
            <a:off x="5640745" y="2078395"/>
            <a:ext cx="6394792" cy="3309304"/>
          </a:xfrm>
          <a:prstGeom prst="rect">
            <a:avLst/>
          </a:prstGeom>
        </p:spPr>
      </p:pic>
    </p:spTree>
    <p:extLst>
      <p:ext uri="{BB962C8B-B14F-4D97-AF65-F5344CB8AC3E}">
        <p14:creationId xmlns:p14="http://schemas.microsoft.com/office/powerpoint/2010/main" val="43318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005E1D-45E7-CAC5-B87A-BB9A3934B286}"/>
              </a:ext>
            </a:extLst>
          </p:cNvPr>
          <p:cNvSpPr>
            <a:spLocks noGrp="1"/>
          </p:cNvSpPr>
          <p:nvPr>
            <p:ph type="title"/>
          </p:nvPr>
        </p:nvSpPr>
        <p:spPr>
          <a:xfrm>
            <a:off x="6726578" y="685680"/>
            <a:ext cx="4203323" cy="3596201"/>
          </a:xfrm>
        </p:spPr>
        <p:txBody>
          <a:bodyPr vert="horz" lIns="91440" tIns="45720" rIns="91440" bIns="45720" rtlCol="0" anchor="b">
            <a:normAutofit/>
          </a:bodyPr>
          <a:lstStyle/>
          <a:p>
            <a:pPr algn="r"/>
            <a:r>
              <a:rPr lang="es-AR" sz="4000" dirty="0">
                <a:ln w="22225">
                  <a:solidFill>
                    <a:srgbClr val="FFFFFF"/>
                  </a:solidFill>
                </a:ln>
                <a:noFill/>
              </a:rPr>
              <a:t>CARACTERÍSTICAS</a:t>
            </a:r>
            <a:endParaRPr lang="en-US" sz="3800" kern="1200" dirty="0">
              <a:solidFill>
                <a:schemeClr val="bg1"/>
              </a:solidFill>
              <a:latin typeface="+mj-lt"/>
              <a:ea typeface="+mj-ea"/>
              <a:cs typeface="+mj-cs"/>
            </a:endParaRPr>
          </a:p>
        </p:txBody>
      </p:sp>
      <p:graphicFrame>
        <p:nvGraphicFramePr>
          <p:cNvPr id="7" name="Tabla 6">
            <a:extLst>
              <a:ext uri="{FF2B5EF4-FFF2-40B4-BE49-F238E27FC236}">
                <a16:creationId xmlns:a16="http://schemas.microsoft.com/office/drawing/2014/main" id="{9ABFBBE0-DEE9-959A-D809-B1013F8BAB9A}"/>
              </a:ext>
            </a:extLst>
          </p:cNvPr>
          <p:cNvGraphicFramePr>
            <a:graphicFrameLocks noGrp="1"/>
          </p:cNvGraphicFramePr>
          <p:nvPr>
            <p:extLst>
              <p:ext uri="{D42A27DB-BD31-4B8C-83A1-F6EECF244321}">
                <p14:modId xmlns:p14="http://schemas.microsoft.com/office/powerpoint/2010/main" val="1190909671"/>
              </p:ext>
            </p:extLst>
          </p:nvPr>
        </p:nvGraphicFramePr>
        <p:xfrm>
          <a:off x="1700022" y="2009856"/>
          <a:ext cx="4172846" cy="2679948"/>
        </p:xfrm>
        <a:graphic>
          <a:graphicData uri="http://schemas.openxmlformats.org/drawingml/2006/table">
            <a:tbl>
              <a:tblPr firstRow="1" bandRow="1">
                <a:tableStyleId>{8EC20E35-A176-4012-BC5E-935CFFF8708E}</a:tableStyleId>
              </a:tblPr>
              <a:tblGrid>
                <a:gridCol w="1464857">
                  <a:extLst>
                    <a:ext uri="{9D8B030D-6E8A-4147-A177-3AD203B41FA5}">
                      <a16:colId xmlns:a16="http://schemas.microsoft.com/office/drawing/2014/main" val="160450597"/>
                    </a:ext>
                  </a:extLst>
                </a:gridCol>
                <a:gridCol w="1504978">
                  <a:extLst>
                    <a:ext uri="{9D8B030D-6E8A-4147-A177-3AD203B41FA5}">
                      <a16:colId xmlns:a16="http://schemas.microsoft.com/office/drawing/2014/main" val="1041636422"/>
                    </a:ext>
                  </a:extLst>
                </a:gridCol>
                <a:gridCol w="1203011">
                  <a:extLst>
                    <a:ext uri="{9D8B030D-6E8A-4147-A177-3AD203B41FA5}">
                      <a16:colId xmlns:a16="http://schemas.microsoft.com/office/drawing/2014/main" val="3536188790"/>
                    </a:ext>
                  </a:extLst>
                </a:gridCol>
              </a:tblGrid>
              <a:tr h="267590">
                <a:tc>
                  <a:txBody>
                    <a:bodyPr/>
                    <a:lstStyle/>
                    <a:p>
                      <a:r>
                        <a:rPr lang="es-AR" sz="1200" dirty="0"/>
                        <a:t>Característica</a:t>
                      </a:r>
                    </a:p>
                  </a:txBody>
                  <a:tcPr marL="60816" marR="60816" marT="30408" marB="30408"/>
                </a:tc>
                <a:tc>
                  <a:txBody>
                    <a:bodyPr/>
                    <a:lstStyle/>
                    <a:p>
                      <a:r>
                        <a:rPr lang="es-AR" sz="1200" dirty="0"/>
                        <a:t>Descripción</a:t>
                      </a:r>
                    </a:p>
                  </a:txBody>
                  <a:tcPr marL="60816" marR="60816" marT="30408" marB="30408"/>
                </a:tc>
                <a:tc>
                  <a:txBody>
                    <a:bodyPr/>
                    <a:lstStyle/>
                    <a:p>
                      <a:r>
                        <a:rPr lang="es-AR" sz="1200" dirty="0"/>
                        <a:t>Tecnología</a:t>
                      </a:r>
                    </a:p>
                  </a:txBody>
                  <a:tcPr marL="60816" marR="60816" marT="30408" marB="30408"/>
                </a:tc>
                <a:extLst>
                  <a:ext uri="{0D108BD9-81ED-4DB2-BD59-A6C34878D82A}">
                    <a16:rowId xmlns:a16="http://schemas.microsoft.com/office/drawing/2014/main" val="2518491610"/>
                  </a:ext>
                </a:extLst>
              </a:tr>
              <a:tr h="510852">
                <a:tc>
                  <a:txBody>
                    <a:bodyPr/>
                    <a:lstStyle/>
                    <a:p>
                      <a:r>
                        <a:rPr lang="es-AR" sz="900" dirty="0"/>
                        <a:t>Análisis Estadístico</a:t>
                      </a:r>
                    </a:p>
                  </a:txBody>
                  <a:tcPr marL="60816" marR="60816" marT="30408" marB="30408"/>
                </a:tc>
                <a:tc>
                  <a:txBody>
                    <a:bodyPr/>
                    <a:lstStyle/>
                    <a:p>
                      <a:r>
                        <a:rPr lang="es-AR" sz="900" dirty="0"/>
                        <a:t>Obtiene métricas de usuarios más activos, hashtags populares, etc.</a:t>
                      </a:r>
                    </a:p>
                  </a:txBody>
                  <a:tcPr marL="60816" marR="60816" marT="30408" marB="30408"/>
                </a:tc>
                <a:tc>
                  <a:txBody>
                    <a:bodyPr/>
                    <a:lstStyle/>
                    <a:p>
                      <a:r>
                        <a:rPr lang="es-AR" sz="900" dirty="0"/>
                        <a:t>Pandas y NumPy</a:t>
                      </a:r>
                    </a:p>
                  </a:txBody>
                  <a:tcPr marL="60816" marR="60816" marT="30408" marB="30408"/>
                </a:tc>
                <a:extLst>
                  <a:ext uri="{0D108BD9-81ED-4DB2-BD59-A6C34878D82A}">
                    <a16:rowId xmlns:a16="http://schemas.microsoft.com/office/drawing/2014/main" val="1967588487"/>
                  </a:ext>
                </a:extLst>
              </a:tr>
              <a:tr h="368949">
                <a:tc>
                  <a:txBody>
                    <a:bodyPr/>
                    <a:lstStyle/>
                    <a:p>
                      <a:r>
                        <a:rPr lang="es-AR" sz="900" dirty="0"/>
                        <a:t>Visualización de Tendencias</a:t>
                      </a:r>
                    </a:p>
                  </a:txBody>
                  <a:tcPr marL="60816" marR="60816" marT="30408" marB="30408"/>
                </a:tc>
                <a:tc>
                  <a:txBody>
                    <a:bodyPr/>
                    <a:lstStyle/>
                    <a:p>
                      <a:r>
                        <a:rPr lang="es-AR" sz="900" dirty="0"/>
                        <a:t>Gráficos de Popularidad de Hashtags Interactivo </a:t>
                      </a:r>
                    </a:p>
                  </a:txBody>
                  <a:tcPr marL="60816" marR="60816" marT="30408" marB="30408"/>
                </a:tc>
                <a:tc>
                  <a:txBody>
                    <a:bodyPr/>
                    <a:lstStyle/>
                    <a:p>
                      <a:r>
                        <a:rPr lang="es-AR" sz="900" dirty="0"/>
                        <a:t>Matplotlib, Pandas, Pivot</a:t>
                      </a:r>
                    </a:p>
                  </a:txBody>
                  <a:tcPr marL="60816" marR="60816" marT="30408" marB="30408"/>
                </a:tc>
                <a:extLst>
                  <a:ext uri="{0D108BD9-81ED-4DB2-BD59-A6C34878D82A}">
                    <a16:rowId xmlns:a16="http://schemas.microsoft.com/office/drawing/2014/main" val="259290023"/>
                  </a:ext>
                </a:extLst>
              </a:tr>
              <a:tr h="510852">
                <a:tc>
                  <a:txBody>
                    <a:bodyPr/>
                    <a:lstStyle/>
                    <a:p>
                      <a:r>
                        <a:rPr lang="es-AR" sz="900" dirty="0"/>
                        <a:t>Clasificación con Machine-Learning</a:t>
                      </a:r>
                    </a:p>
                  </a:txBody>
                  <a:tcPr marL="60816" marR="60816" marT="30408" marB="30408"/>
                </a:tc>
                <a:tc>
                  <a:txBody>
                    <a:bodyPr/>
                    <a:lstStyle/>
                    <a:p>
                      <a:r>
                        <a:rPr lang="es-AR" sz="900" dirty="0"/>
                        <a:t>TF-IDF + Regresión Logistica para predecir relevancia de Posts</a:t>
                      </a:r>
                    </a:p>
                  </a:txBody>
                  <a:tcPr marL="60816" marR="60816" marT="30408" marB="30408"/>
                </a:tc>
                <a:tc>
                  <a:txBody>
                    <a:bodyPr/>
                    <a:lstStyle/>
                    <a:p>
                      <a:r>
                        <a:rPr lang="es-AR" sz="900" dirty="0"/>
                        <a:t>Scikit-Learn</a:t>
                      </a:r>
                    </a:p>
                  </a:txBody>
                  <a:tcPr marL="60816" marR="60816" marT="30408" marB="30408"/>
                </a:tc>
                <a:extLst>
                  <a:ext uri="{0D108BD9-81ED-4DB2-BD59-A6C34878D82A}">
                    <a16:rowId xmlns:a16="http://schemas.microsoft.com/office/drawing/2014/main" val="1387911017"/>
                  </a:ext>
                </a:extLst>
              </a:tr>
              <a:tr h="794659">
                <a:tc>
                  <a:txBody>
                    <a:bodyPr/>
                    <a:lstStyle/>
                    <a:p>
                      <a:r>
                        <a:rPr lang="es-AR" sz="900" dirty="0"/>
                        <a:t>Predicciones en Tiempo Real</a:t>
                      </a:r>
                    </a:p>
                  </a:txBody>
                  <a:tcPr marL="60816" marR="60816" marT="30408" marB="30408"/>
                </a:tc>
                <a:tc>
                  <a:txBody>
                    <a:bodyPr/>
                    <a:lstStyle/>
                    <a:p>
                      <a:r>
                        <a:rPr lang="es-AR" sz="900" dirty="0"/>
                        <a:t>Se puede ingresar Texto / Hashtags / Likes para obtener una Predicción y la Confiabilidad de la misma</a:t>
                      </a:r>
                    </a:p>
                  </a:txBody>
                  <a:tcPr marL="60816" marR="60816" marT="30408" marB="30408"/>
                </a:tc>
                <a:tc>
                  <a:txBody>
                    <a:bodyPr/>
                    <a:lstStyle/>
                    <a:p>
                      <a:r>
                        <a:rPr lang="es-AR" sz="900" dirty="0"/>
                        <a:t>Modelo Entrenado</a:t>
                      </a:r>
                    </a:p>
                  </a:txBody>
                  <a:tcPr marL="60816" marR="60816" marT="30408" marB="30408"/>
                </a:tc>
                <a:extLst>
                  <a:ext uri="{0D108BD9-81ED-4DB2-BD59-A6C34878D82A}">
                    <a16:rowId xmlns:a16="http://schemas.microsoft.com/office/drawing/2014/main" val="835236344"/>
                  </a:ext>
                </a:extLst>
              </a:tr>
              <a:tr h="227046">
                <a:tc>
                  <a:txBody>
                    <a:bodyPr/>
                    <a:lstStyle/>
                    <a:p>
                      <a:r>
                        <a:rPr lang="es-AR" sz="900" dirty="0"/>
                        <a:t>Carga de Datos Flexible</a:t>
                      </a:r>
                    </a:p>
                  </a:txBody>
                  <a:tcPr marL="60816" marR="60816" marT="30408" marB="30408"/>
                </a:tc>
                <a:tc>
                  <a:txBody>
                    <a:bodyPr/>
                    <a:lstStyle/>
                    <a:p>
                      <a:r>
                        <a:rPr lang="es-AR" sz="900" dirty="0"/>
                        <a:t>Auto-Valida, Parsea, etc.</a:t>
                      </a:r>
                    </a:p>
                  </a:txBody>
                  <a:tcPr marL="60816" marR="60816" marT="30408" marB="30408"/>
                </a:tc>
                <a:tc>
                  <a:txBody>
                    <a:bodyPr/>
                    <a:lstStyle/>
                    <a:p>
                      <a:r>
                        <a:rPr lang="es-AR" sz="900" dirty="0"/>
                        <a:t>Pandas</a:t>
                      </a:r>
                    </a:p>
                  </a:txBody>
                  <a:tcPr marL="60816" marR="60816" marT="30408" marB="30408"/>
                </a:tc>
                <a:extLst>
                  <a:ext uri="{0D108BD9-81ED-4DB2-BD59-A6C34878D82A}">
                    <a16:rowId xmlns:a16="http://schemas.microsoft.com/office/drawing/2014/main" val="1639476665"/>
                  </a:ext>
                </a:extLst>
              </a:tr>
            </a:tbl>
          </a:graphicData>
        </a:graphic>
      </p:graphicFrame>
    </p:spTree>
    <p:extLst>
      <p:ext uri="{BB962C8B-B14F-4D97-AF65-F5344CB8AC3E}">
        <p14:creationId xmlns:p14="http://schemas.microsoft.com/office/powerpoint/2010/main" val="2351299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descr="Interfaz de usuario gráfica&#10;&#10;El contenido generado por IA puede ser incorrecto.">
            <a:extLst>
              <a:ext uri="{FF2B5EF4-FFF2-40B4-BE49-F238E27FC236}">
                <a16:creationId xmlns:a16="http://schemas.microsoft.com/office/drawing/2014/main" id="{99D1E003-76B5-5CA8-4E52-E72DFA27E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487" y="145669"/>
            <a:ext cx="10899025" cy="6566661"/>
          </a:xfrm>
          <a:prstGeom prst="rect">
            <a:avLst/>
          </a:prstGeom>
        </p:spPr>
      </p:pic>
    </p:spTree>
    <p:extLst>
      <p:ext uri="{BB962C8B-B14F-4D97-AF65-F5344CB8AC3E}">
        <p14:creationId xmlns:p14="http://schemas.microsoft.com/office/powerpoint/2010/main" val="1973120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descr="Interfaz de usuario gráfica&#10;&#10;El contenido generado por IA puede ser incorrecto.">
            <a:extLst>
              <a:ext uri="{FF2B5EF4-FFF2-40B4-BE49-F238E27FC236}">
                <a16:creationId xmlns:a16="http://schemas.microsoft.com/office/drawing/2014/main" id="{597EB38E-5E91-9D56-49E9-24E9DC017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445" y="228814"/>
            <a:ext cx="10407109" cy="6400372"/>
          </a:xfrm>
          <a:prstGeom prst="rect">
            <a:avLst/>
          </a:prstGeom>
        </p:spPr>
      </p:pic>
    </p:spTree>
    <p:extLst>
      <p:ext uri="{BB962C8B-B14F-4D97-AF65-F5344CB8AC3E}">
        <p14:creationId xmlns:p14="http://schemas.microsoft.com/office/powerpoint/2010/main" val="1795287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8BF81C-833D-C602-2CCB-8CB21C20C9D8}"/>
              </a:ext>
            </a:extLst>
          </p:cNvPr>
          <p:cNvSpPr>
            <a:spLocks noGrp="1"/>
          </p:cNvSpPr>
          <p:nvPr>
            <p:ph type="title"/>
          </p:nvPr>
        </p:nvSpPr>
        <p:spPr/>
        <p:txBody>
          <a:bodyPr/>
          <a:lstStyle/>
          <a:p>
            <a:r>
              <a:rPr lang="es-AR" dirty="0">
                <a:ln w="22225">
                  <a:solidFill>
                    <a:srgbClr val="FFFFFF"/>
                  </a:solidFill>
                </a:ln>
                <a:noFill/>
              </a:rPr>
              <a:t>MEJORAS A FUTURO</a:t>
            </a:r>
            <a:endParaRPr lang="es-AR" dirty="0"/>
          </a:p>
        </p:txBody>
      </p:sp>
      <p:graphicFrame>
        <p:nvGraphicFramePr>
          <p:cNvPr id="5" name="Marcador de contenido 2">
            <a:extLst>
              <a:ext uri="{FF2B5EF4-FFF2-40B4-BE49-F238E27FC236}">
                <a16:creationId xmlns:a16="http://schemas.microsoft.com/office/drawing/2014/main" id="{424020EE-A619-A115-816F-D6A66F4C5D80}"/>
              </a:ext>
            </a:extLst>
          </p:cNvPr>
          <p:cNvGraphicFramePr>
            <a:graphicFrameLocks noGrp="1"/>
          </p:cNvGraphicFramePr>
          <p:nvPr>
            <p:ph idx="1"/>
            <p:extLst>
              <p:ext uri="{D42A27DB-BD31-4B8C-83A1-F6EECF244321}">
                <p14:modId xmlns:p14="http://schemas.microsoft.com/office/powerpoint/2010/main" val="138463718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6057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AAED148-B6BC-A505-4A57-36F3B463F97C}"/>
              </a:ext>
            </a:extLst>
          </p:cNvPr>
          <p:cNvSpPr>
            <a:spLocks noGrp="1"/>
          </p:cNvSpPr>
          <p:nvPr>
            <p:ph type="title"/>
          </p:nvPr>
        </p:nvSpPr>
        <p:spPr>
          <a:xfrm>
            <a:off x="841248" y="256032"/>
            <a:ext cx="10506456" cy="1014984"/>
          </a:xfrm>
        </p:spPr>
        <p:txBody>
          <a:bodyPr anchor="b">
            <a:normAutofit/>
          </a:bodyPr>
          <a:lstStyle/>
          <a:p>
            <a:r>
              <a:rPr lang="es-AR" dirty="0">
                <a:ln w="22225">
                  <a:solidFill>
                    <a:srgbClr val="FFFFFF"/>
                  </a:solidFill>
                </a:ln>
                <a:noFill/>
              </a:rPr>
              <a:t>CONCEPTOS IMPORTANTES</a:t>
            </a:r>
            <a:endParaRPr lang="es-AR"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5" name="Marcador de contenido 2">
            <a:extLst>
              <a:ext uri="{FF2B5EF4-FFF2-40B4-BE49-F238E27FC236}">
                <a16:creationId xmlns:a16="http://schemas.microsoft.com/office/drawing/2014/main" id="{21688BB8-858F-A035-2EC7-A844CB5C23C9}"/>
              </a:ext>
            </a:extLst>
          </p:cNvPr>
          <p:cNvGraphicFramePr>
            <a:graphicFrameLocks noGrp="1"/>
          </p:cNvGraphicFramePr>
          <p:nvPr>
            <p:ph idx="1"/>
            <p:extLst>
              <p:ext uri="{D42A27DB-BD31-4B8C-83A1-F6EECF244321}">
                <p14:modId xmlns:p14="http://schemas.microsoft.com/office/powerpoint/2010/main" val="396872184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116405"/>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61</TotalTime>
  <Words>431</Words>
  <Application>Microsoft Office PowerPoint</Application>
  <PresentationFormat>Panorámica</PresentationFormat>
  <Paragraphs>42</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Calibri</vt:lpstr>
      <vt:lpstr>Office Theme</vt:lpstr>
      <vt:lpstr>SOCIAL TREND ANALYZER</vt:lpstr>
      <vt:lpstr>CONSIGNA GENERAL:</vt:lpstr>
      <vt:lpstr>RESULTADO</vt:lpstr>
      <vt:lpstr>CARACTERÍSTICAS</vt:lpstr>
      <vt:lpstr>Presentación de PowerPoint</vt:lpstr>
      <vt:lpstr>Presentación de PowerPoint</vt:lpstr>
      <vt:lpstr>MEJORAS A FUTURO</vt:lpstr>
      <vt:lpstr>CONCEPTOS IMPORTANTES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edgar karpowicz</dc:creator>
  <cp:lastModifiedBy>edgar karpowicz</cp:lastModifiedBy>
  <cp:revision>6</cp:revision>
  <dcterms:created xsi:type="dcterms:W3CDTF">2025-11-15T21:53:06Z</dcterms:created>
  <dcterms:modified xsi:type="dcterms:W3CDTF">2025-11-27T21:09:57Z</dcterms:modified>
</cp:coreProperties>
</file>